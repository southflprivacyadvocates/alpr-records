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10"/>
  </p:notesMasterIdLst>
  <p:sldIdLst>
    <p:sldId id="256" r:id="rId2"/>
    <p:sldId id="260" r:id="rId3"/>
    <p:sldId id="280" r:id="rId4"/>
    <p:sldId id="261" r:id="rId5"/>
    <p:sldId id="262" r:id="rId6"/>
    <p:sldId id="263" r:id="rId7"/>
    <p:sldId id="264" r:id="rId8"/>
    <p:sldId id="28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54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1D092-CBAF-4422-8EE9-4AECFFB92B3B}" type="datetimeFigureOut">
              <a:rPr lang="en-US" smtClean="0"/>
              <a:t>3/25/2021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1A172-9565-433B-BB7A-F610E9EE10B2}" type="slidenum">
              <a:rPr lang="en-US" smtClean="0"/>
              <a:t>‹#›</a:t>
            </a:fld>
            <a:endParaRPr lang="en-US"/>
          </a:p>
        </p:txBody>
      </p:sp>
    </p:spTree>
    <p:extLst>
      <p:ext uri="{BB962C8B-B14F-4D97-AF65-F5344CB8AC3E}">
        <p14:creationId xmlns:p14="http://schemas.microsoft.com/office/powerpoint/2010/main" val="3948618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1</a:t>
            </a:fld>
            <a:endParaRPr lang="en-US"/>
          </a:p>
        </p:txBody>
      </p:sp>
    </p:spTree>
    <p:extLst>
      <p:ext uri="{BB962C8B-B14F-4D97-AF65-F5344CB8AC3E}">
        <p14:creationId xmlns:p14="http://schemas.microsoft.com/office/powerpoint/2010/main" val="60076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3</a:t>
            </a:fld>
            <a:endParaRPr lang="en-US"/>
          </a:p>
        </p:txBody>
      </p:sp>
    </p:spTree>
    <p:extLst>
      <p:ext uri="{BB962C8B-B14F-4D97-AF65-F5344CB8AC3E}">
        <p14:creationId xmlns:p14="http://schemas.microsoft.com/office/powerpoint/2010/main" val="1457504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Multi-layered review process</a:t>
            </a:r>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4</a:t>
            </a:fld>
            <a:endParaRPr lang="en-US"/>
          </a:p>
        </p:txBody>
      </p:sp>
    </p:spTree>
    <p:extLst>
      <p:ext uri="{BB962C8B-B14F-4D97-AF65-F5344CB8AC3E}">
        <p14:creationId xmlns:p14="http://schemas.microsoft.com/office/powerpoint/2010/main" val="4101759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documented use of</a:t>
            </a:r>
            <a:r>
              <a:rPr lang="en-US" baseline="0" dirty="0" smtClean="0"/>
              <a:t> force</a:t>
            </a:r>
            <a:r>
              <a:rPr lang="en-US" dirty="0" smtClean="0"/>
              <a:t> form is independently reviewed by numerous</a:t>
            </a:r>
            <a:r>
              <a:rPr lang="en-US" baseline="0" dirty="0" smtClean="0"/>
              <a:t> supervisory staff members, from Sergeant to the Chief of Police. </a:t>
            </a:r>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5</a:t>
            </a:fld>
            <a:endParaRPr lang="en-US"/>
          </a:p>
        </p:txBody>
      </p:sp>
    </p:spTree>
    <p:extLst>
      <p:ext uri="{BB962C8B-B14F-4D97-AF65-F5344CB8AC3E}">
        <p14:creationId xmlns:p14="http://schemas.microsoft.com/office/powerpoint/2010/main" val="1157812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Beyond the individual reviews of each incident, annual reviews are also conducted by our IA.</a:t>
            </a:r>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6</a:t>
            </a:fld>
            <a:endParaRPr lang="en-US"/>
          </a:p>
        </p:txBody>
      </p:sp>
    </p:spTree>
    <p:extLst>
      <p:ext uri="{BB962C8B-B14F-4D97-AF65-F5344CB8AC3E}">
        <p14:creationId xmlns:p14="http://schemas.microsoft.com/office/powerpoint/2010/main" val="3999149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Examples of recent</a:t>
            </a:r>
            <a:r>
              <a:rPr lang="en-US" baseline="0" dirty="0" smtClean="0"/>
              <a:t> revisions due to our agency’s constant professional reviews, some of which were put in place prior to the recent high profile events. </a:t>
            </a:r>
            <a:endParaRPr lang="en-US" dirty="0"/>
          </a:p>
        </p:txBody>
      </p:sp>
      <p:sp>
        <p:nvSpPr>
          <p:cNvPr id="4" name="Slide Number Placeholder 3"/>
          <p:cNvSpPr>
            <a:spLocks noGrp="1"/>
          </p:cNvSpPr>
          <p:nvPr>
            <p:ph type="sldNum" sz="quarter" idx="10"/>
          </p:nvPr>
        </p:nvSpPr>
        <p:spPr/>
        <p:txBody>
          <a:bodyPr/>
          <a:lstStyle/>
          <a:p>
            <a:fld id="{89F1A172-9565-433B-BB7A-F610E9EE10B2}" type="slidenum">
              <a:rPr lang="en-US" smtClean="0"/>
              <a:t>7</a:t>
            </a:fld>
            <a:endParaRPr lang="en-US"/>
          </a:p>
        </p:txBody>
      </p:sp>
    </p:spTree>
    <p:extLst>
      <p:ext uri="{BB962C8B-B14F-4D97-AF65-F5344CB8AC3E}">
        <p14:creationId xmlns:p14="http://schemas.microsoft.com/office/powerpoint/2010/main" val="3597966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smtClean="0"/>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35B2291-2A61-4212-AB0C-753318A84A4E}"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2259532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5B2291-2A61-4212-AB0C-753318A84A4E}"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3900293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35B2291-2A61-4212-AB0C-753318A84A4E}" type="datetimeFigureOut">
              <a:rPr lang="en-US" smtClean="0"/>
              <a:t>3/25/2021</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83C624D-43B6-49CD-997B-B3F700550DB7}" type="slidenum">
              <a:rPr lang="en-US" smtClean="0"/>
              <a:t>‹#›</a:t>
            </a:fld>
            <a:endParaRPr lang="en-US"/>
          </a:p>
        </p:txBody>
      </p:sp>
    </p:spTree>
    <p:extLst>
      <p:ext uri="{BB962C8B-B14F-4D97-AF65-F5344CB8AC3E}">
        <p14:creationId xmlns:p14="http://schemas.microsoft.com/office/powerpoint/2010/main" val="184862989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35B2291-2A61-4212-AB0C-753318A84A4E}"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1243001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35B2291-2A61-4212-AB0C-753318A84A4E}" type="datetimeFigureOut">
              <a:rPr lang="en-US" smtClean="0"/>
              <a:t>3/25/2021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1205326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35B2291-2A61-4212-AB0C-753318A84A4E}" type="datetimeFigureOut">
              <a:rPr lang="en-US" smtClean="0"/>
              <a:t>3/25/2021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305595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5B2291-2A61-4212-AB0C-753318A84A4E}" type="datetimeFigureOut">
              <a:rPr lang="en-US" smtClean="0"/>
              <a:t>3/25/2021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421202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5B2291-2A61-4212-AB0C-753318A84A4E}"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203507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5B2291-2A61-4212-AB0C-753318A84A4E}" type="datetimeFigureOut">
              <a:rPr lang="en-US" smtClean="0"/>
              <a:t>3/25/2021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2662148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5B2291-2A61-4212-AB0C-753318A84A4E}" type="datetimeFigureOut">
              <a:rPr lang="en-US" smtClean="0"/>
              <a:t>3/25/2021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160385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035B2291-2A61-4212-AB0C-753318A84A4E}" type="datetimeFigureOut">
              <a:rPr lang="en-US" smtClean="0"/>
              <a:t>3/25/2021</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683C624D-43B6-49CD-997B-B3F700550DB7}" type="slidenum">
              <a:rPr lang="en-US" smtClean="0"/>
              <a:t>‹#›</a:t>
            </a:fld>
            <a:endParaRPr lang="en-US"/>
          </a:p>
        </p:txBody>
      </p:sp>
    </p:spTree>
    <p:extLst>
      <p:ext uri="{BB962C8B-B14F-4D97-AF65-F5344CB8AC3E}">
        <p14:creationId xmlns:p14="http://schemas.microsoft.com/office/powerpoint/2010/main" val="1340267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035B2291-2A61-4212-AB0C-753318A84A4E}" type="datetimeFigureOut">
              <a:rPr lang="en-US" smtClean="0"/>
              <a:t>3/25/2021</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683C624D-43B6-49CD-997B-B3F700550DB7}" type="slidenum">
              <a:rPr lang="en-US" smtClean="0"/>
              <a:t>‹#›</a:t>
            </a:fld>
            <a:endParaRPr lang="en-US"/>
          </a:p>
        </p:txBody>
      </p:sp>
    </p:spTree>
    <p:extLst>
      <p:ext uri="{BB962C8B-B14F-4D97-AF65-F5344CB8AC3E}">
        <p14:creationId xmlns:p14="http://schemas.microsoft.com/office/powerpoint/2010/main" val="1683244311"/>
      </p:ext>
    </p:extLst>
  </p:cSld>
  <p:clrMap bg1="dk1" tx1="lt1" bg2="dk2" tx2="lt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ppines.com/Index.aspx?NID=377"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www.ppines.com/Index.aspx?NID=377"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ppines.com/Index.aspx?NID=37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a:latin typeface="Calibri" panose="020F0502020204030204" pitchFamily="34" charset="0"/>
              </a:rPr>
              <a:t>PEMBROKE PINES </a:t>
            </a:r>
            <a:r>
              <a:rPr lang="en-US" sz="4400" dirty="0" smtClean="0">
                <a:latin typeface="Calibri" panose="020F0502020204030204" pitchFamily="34" charset="0"/>
              </a:rPr>
              <a:t/>
            </a:r>
            <a:br>
              <a:rPr lang="en-US" sz="4400" dirty="0" smtClean="0">
                <a:latin typeface="Calibri" panose="020F0502020204030204" pitchFamily="34" charset="0"/>
              </a:rPr>
            </a:br>
            <a:r>
              <a:rPr lang="en-US" sz="4400" dirty="0" smtClean="0">
                <a:latin typeface="Calibri" panose="020F0502020204030204" pitchFamily="34" charset="0"/>
              </a:rPr>
              <a:t>POLICE DEPARTMENT</a:t>
            </a:r>
            <a:endParaRPr lang="en-US" sz="4400" dirty="0"/>
          </a:p>
        </p:txBody>
      </p:sp>
      <p:sp>
        <p:nvSpPr>
          <p:cNvPr id="3" name="Content Placeholder 2"/>
          <p:cNvSpPr>
            <a:spLocks noGrp="1"/>
          </p:cNvSpPr>
          <p:nvPr>
            <p:ph idx="1"/>
          </p:nvPr>
        </p:nvSpPr>
        <p:spPr>
          <a:xfrm>
            <a:off x="1266927" y="3187336"/>
            <a:ext cx="9784080" cy="3597511"/>
          </a:xfrm>
        </p:spPr>
        <p:txBody>
          <a:bodyPr>
            <a:normAutofit/>
          </a:bodyPr>
          <a:lstStyle/>
          <a:p>
            <a:pPr marL="0" indent="0" algn="ctr">
              <a:buNone/>
            </a:pPr>
            <a:r>
              <a:rPr lang="en-US" sz="4400" dirty="0"/>
              <a:t>Florida’s Facial Recognition Network </a:t>
            </a:r>
          </a:p>
          <a:p>
            <a:pPr marL="0" indent="0" algn="ctr">
              <a:buNone/>
            </a:pPr>
            <a:r>
              <a:rPr lang="en-US" sz="4400" dirty="0"/>
              <a:t>(FR-Net)</a:t>
            </a:r>
          </a:p>
          <a:p>
            <a:pPr marL="0" indent="0">
              <a:buNone/>
            </a:pPr>
            <a:endParaRPr lang="en-US" dirty="0"/>
          </a:p>
        </p:txBody>
      </p:sp>
      <p:pic>
        <p:nvPicPr>
          <p:cNvPr id="4" name="Picture 3"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514816" y="306524"/>
            <a:ext cx="1536191" cy="1486412"/>
          </a:xfrm>
          <a:prstGeom prst="rect">
            <a:avLst/>
          </a:prstGeom>
          <a:noFill/>
        </p:spPr>
      </p:pic>
    </p:spTree>
    <p:extLst>
      <p:ext uri="{BB962C8B-B14F-4D97-AF65-F5344CB8AC3E}">
        <p14:creationId xmlns:p14="http://schemas.microsoft.com/office/powerpoint/2010/main" val="33974274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smtClean="0"/>
              <a:t>Florida’s Facial recognition </a:t>
            </a:r>
            <a:r>
              <a:rPr lang="en-US" dirty="0" smtClean="0"/>
              <a:t>network</a:t>
            </a:r>
            <a:endParaRPr lang="en-US" dirty="0"/>
          </a:p>
        </p:txBody>
      </p:sp>
      <p:sp>
        <p:nvSpPr>
          <p:cNvPr id="3" name="Content Placeholder 2"/>
          <p:cNvSpPr>
            <a:spLocks noGrp="1"/>
          </p:cNvSpPr>
          <p:nvPr>
            <p:ph idx="1"/>
          </p:nvPr>
        </p:nvSpPr>
        <p:spPr>
          <a:xfrm>
            <a:off x="1202919" y="2934789"/>
            <a:ext cx="9784080" cy="2708365"/>
          </a:xfrm>
        </p:spPr>
        <p:txBody>
          <a:bodyPr>
            <a:normAutofit/>
          </a:bodyPr>
          <a:lstStyle/>
          <a:p>
            <a:r>
              <a:rPr lang="en-US" dirty="0"/>
              <a:t>The Pinellas County Sheriffs </a:t>
            </a:r>
            <a:r>
              <a:rPr lang="en-US" dirty="0" smtClean="0"/>
              <a:t>Office (PCSO) </a:t>
            </a:r>
            <a:r>
              <a:rPr lang="en-US" dirty="0"/>
              <a:t>is the host agency for Florida’s Facial Recognition Network (FR-Net)</a:t>
            </a:r>
          </a:p>
          <a:p>
            <a:r>
              <a:rPr lang="en-US" dirty="0"/>
              <a:t>FR-Net provides biometrical search capabilities, subject information, face image comparison tool, training for FR search, and face image analysis methods and best practices via CJNET to authorized Florida law enforcement agencies.</a:t>
            </a:r>
          </a:p>
          <a:p>
            <a:r>
              <a:rPr lang="en-US" dirty="0"/>
              <a:t>Automated facial recognition searches and face image comparisons are done through the Face Analysis and Examination System (FACES)</a:t>
            </a:r>
          </a:p>
          <a:p>
            <a:endParaRPr lang="en-US" sz="3600" dirty="0"/>
          </a:p>
        </p:txBody>
      </p:sp>
      <p:pic>
        <p:nvPicPr>
          <p:cNvPr id="4" name="Picture 3" descr="PPPD Logo (1)">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0118320" y="213054"/>
            <a:ext cx="1536191" cy="1486412"/>
          </a:xfrm>
          <a:prstGeom prst="rect">
            <a:avLst/>
          </a:prstGeom>
          <a:noFill/>
        </p:spPr>
      </p:pic>
    </p:spTree>
    <p:extLst>
      <p:ext uri="{BB962C8B-B14F-4D97-AF65-F5344CB8AC3E}">
        <p14:creationId xmlns:p14="http://schemas.microsoft.com/office/powerpoint/2010/main" val="2750331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sz="6600" dirty="0" smtClean="0"/>
              <a:t>History</a:t>
            </a:r>
            <a:endParaRPr lang="en-US" sz="6600" dirty="0"/>
          </a:p>
        </p:txBody>
      </p:sp>
      <p:sp>
        <p:nvSpPr>
          <p:cNvPr id="3" name="Content Placeholder 2"/>
          <p:cNvSpPr>
            <a:spLocks noGrp="1"/>
          </p:cNvSpPr>
          <p:nvPr>
            <p:ph idx="1"/>
          </p:nvPr>
        </p:nvSpPr>
        <p:spPr>
          <a:xfrm>
            <a:off x="1202919" y="2478024"/>
            <a:ext cx="9784080" cy="3712464"/>
          </a:xfrm>
        </p:spPr>
        <p:txBody>
          <a:bodyPr>
            <a:normAutofit/>
          </a:bodyPr>
          <a:lstStyle/>
          <a:p>
            <a:pPr lvl="0"/>
            <a:r>
              <a:rPr lang="en-US" dirty="0"/>
              <a:t>Pinellas County Sheriff’s Office has been the administrator of this application since 2002</a:t>
            </a:r>
          </a:p>
          <a:p>
            <a:pPr lvl="0"/>
            <a:r>
              <a:rPr lang="en-US" dirty="0"/>
              <a:t>Pembroke Pines Police Department has had access to FACES since 2013</a:t>
            </a:r>
          </a:p>
          <a:p>
            <a:pPr lvl="0"/>
            <a:r>
              <a:rPr lang="en-US" dirty="0"/>
              <a:t>Pembroke Pines entered into a formal Memorandum of Understanding (MOU) with Pinellas County Sheriff’s Office in September of 2019</a:t>
            </a:r>
          </a:p>
          <a:p>
            <a:r>
              <a:rPr lang="en-US" dirty="0"/>
              <a:t>There are approximately 270 participating Florida law enforcement </a:t>
            </a:r>
            <a:r>
              <a:rPr lang="en-US" dirty="0" smtClean="0"/>
              <a:t>agencies</a:t>
            </a:r>
          </a:p>
          <a:p>
            <a:r>
              <a:rPr lang="en-US" dirty="0" smtClean="0"/>
              <a:t>FL DHSMV is requesting an additional MOU for access to drivers license images via the FACES database</a:t>
            </a:r>
            <a:endParaRPr lang="en-US" dirty="0"/>
          </a:p>
        </p:txBody>
      </p:sp>
      <p:pic>
        <p:nvPicPr>
          <p:cNvPr id="4" name="Picture 3"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450808" y="295350"/>
            <a:ext cx="1536191" cy="1486412"/>
          </a:xfrm>
          <a:prstGeom prst="rect">
            <a:avLst/>
          </a:prstGeom>
          <a:noFill/>
        </p:spPr>
      </p:pic>
    </p:spTree>
    <p:extLst>
      <p:ext uri="{BB962C8B-B14F-4D97-AF65-F5344CB8AC3E}">
        <p14:creationId xmlns:p14="http://schemas.microsoft.com/office/powerpoint/2010/main" val="41879816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a:t>Faces FR application </a:t>
            </a:r>
          </a:p>
        </p:txBody>
      </p:sp>
      <p:sp>
        <p:nvSpPr>
          <p:cNvPr id="3" name="Content Placeholder 2"/>
          <p:cNvSpPr>
            <a:spLocks noGrp="1"/>
          </p:cNvSpPr>
          <p:nvPr>
            <p:ph idx="1"/>
          </p:nvPr>
        </p:nvSpPr>
        <p:spPr>
          <a:xfrm>
            <a:off x="1202919" y="2203269"/>
            <a:ext cx="9784080" cy="4654730"/>
          </a:xfrm>
        </p:spPr>
        <p:txBody>
          <a:bodyPr>
            <a:normAutofit/>
          </a:bodyPr>
          <a:lstStyle/>
          <a:p>
            <a:r>
              <a:rPr lang="en-US" dirty="0"/>
              <a:t>FACES stands for Face Analysis Comparison and Evaluation System</a:t>
            </a:r>
          </a:p>
          <a:p>
            <a:r>
              <a:rPr lang="en-US" dirty="0"/>
              <a:t>FACES uses a person’s overall facial structure, including distances between the eyes, nose, mouth and jaw. It also analyzes the unique characteristics of a person’s facial features</a:t>
            </a:r>
          </a:p>
          <a:p>
            <a:r>
              <a:rPr lang="en-US" dirty="0"/>
              <a:t>Probe image quality is essential, you must have a recognizable face</a:t>
            </a:r>
          </a:p>
          <a:p>
            <a:r>
              <a:rPr lang="en-US" dirty="0"/>
              <a:t>Partial images of a face will not return a match</a:t>
            </a:r>
          </a:p>
          <a:p>
            <a:r>
              <a:rPr lang="en-US" dirty="0"/>
              <a:t>FACES uses databases that contain booking photos submitted from over 270 participating Florida agencies, and the FLHSMV database of driver license and I.D. photos</a:t>
            </a:r>
          </a:p>
          <a:p>
            <a:r>
              <a:rPr lang="en-US" dirty="0"/>
              <a:t>FACES does not utilize social media photos as part of its database</a:t>
            </a:r>
          </a:p>
          <a:p>
            <a:pPr marL="457200" lvl="2" indent="0">
              <a:buNone/>
            </a:pPr>
            <a:endParaRPr lang="en-US" sz="2800" dirty="0" smtClean="0"/>
          </a:p>
        </p:txBody>
      </p:sp>
      <p:pic>
        <p:nvPicPr>
          <p:cNvPr id="4" name="Picture 3"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450808" y="295350"/>
            <a:ext cx="1536191" cy="1486412"/>
          </a:xfrm>
          <a:prstGeom prst="rect">
            <a:avLst/>
          </a:prstGeom>
          <a:noFill/>
        </p:spPr>
      </p:pic>
    </p:spTree>
    <p:extLst>
      <p:ext uri="{BB962C8B-B14F-4D97-AF65-F5344CB8AC3E}">
        <p14:creationId xmlns:p14="http://schemas.microsoft.com/office/powerpoint/2010/main" val="17221859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919" y="295350"/>
            <a:ext cx="9784080" cy="1508760"/>
          </a:xfrm>
        </p:spPr>
        <p:txBody>
          <a:bodyPr/>
          <a:lstStyle/>
          <a:p>
            <a:r>
              <a:rPr lang="en-US" dirty="0" smtClean="0"/>
              <a:t> Faces fr application continued</a:t>
            </a:r>
            <a:endParaRPr lang="en-US" dirty="0"/>
          </a:p>
        </p:txBody>
      </p:sp>
      <p:sp>
        <p:nvSpPr>
          <p:cNvPr id="3" name="Content Placeholder 2"/>
          <p:cNvSpPr>
            <a:spLocks noGrp="1"/>
          </p:cNvSpPr>
          <p:nvPr>
            <p:ph idx="1"/>
          </p:nvPr>
        </p:nvSpPr>
        <p:spPr>
          <a:xfrm>
            <a:off x="1202919" y="2342606"/>
            <a:ext cx="9784080" cy="3875314"/>
          </a:xfrm>
        </p:spPr>
        <p:txBody>
          <a:bodyPr/>
          <a:lstStyle/>
          <a:p>
            <a:pPr lvl="0"/>
            <a:r>
              <a:rPr lang="en-US" dirty="0"/>
              <a:t>The user places a probe image into the application for comparison </a:t>
            </a:r>
          </a:p>
          <a:p>
            <a:pPr lvl="0"/>
            <a:r>
              <a:rPr lang="en-US" dirty="0"/>
              <a:t>The program then compares that image against facial images in one or more contributing databases, which typically results in a group of facial images ranked by computer-evaluated similarity</a:t>
            </a:r>
          </a:p>
          <a:p>
            <a:pPr lvl="0"/>
            <a:r>
              <a:rPr lang="en-US" dirty="0"/>
              <a:t>The user (Pembroke Pines Investigator or Crime Analyst) then determines if any of the images in the group are a possible match </a:t>
            </a:r>
          </a:p>
          <a:p>
            <a:r>
              <a:rPr lang="en-US" dirty="0"/>
              <a:t>FACES results are </a:t>
            </a:r>
            <a:r>
              <a:rPr lang="en-US" b="1" u="sng" dirty="0"/>
              <a:t>ONLY</a:t>
            </a:r>
            <a:r>
              <a:rPr lang="en-US" dirty="0"/>
              <a:t> investigative leads to assist with subject identification and/or verification</a:t>
            </a:r>
          </a:p>
          <a:p>
            <a:r>
              <a:rPr lang="en-US" dirty="0"/>
              <a:t>FACES results </a:t>
            </a:r>
            <a:r>
              <a:rPr lang="en-US" b="1" u="sng" dirty="0"/>
              <a:t>do</a:t>
            </a:r>
            <a:r>
              <a:rPr lang="en-US" b="1" dirty="0"/>
              <a:t> </a:t>
            </a:r>
            <a:r>
              <a:rPr lang="en-US" b="1" u="sng" dirty="0"/>
              <a:t>not</a:t>
            </a:r>
            <a:r>
              <a:rPr lang="en-US" b="1" dirty="0"/>
              <a:t> </a:t>
            </a:r>
            <a:r>
              <a:rPr lang="en-US" dirty="0"/>
              <a:t>give probable cause for an arrest</a:t>
            </a:r>
          </a:p>
          <a:p>
            <a:pPr lvl="0"/>
            <a:endParaRPr lang="en-US" sz="1800" dirty="0"/>
          </a:p>
        </p:txBody>
      </p:sp>
      <p:pic>
        <p:nvPicPr>
          <p:cNvPr id="4" name="Picture 3"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450808" y="295350"/>
            <a:ext cx="1536191" cy="1486412"/>
          </a:xfrm>
          <a:prstGeom prst="rect">
            <a:avLst/>
          </a:prstGeom>
          <a:noFill/>
        </p:spPr>
      </p:pic>
    </p:spTree>
    <p:extLst>
      <p:ext uri="{BB962C8B-B14F-4D97-AF65-F5344CB8AC3E}">
        <p14:creationId xmlns:p14="http://schemas.microsoft.com/office/powerpoint/2010/main" val="3464409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a:t>
            </a:r>
            <a:r>
              <a:rPr lang="en-US" sz="5400" dirty="0" smtClean="0"/>
              <a:t>use/misuse/training</a:t>
            </a:r>
            <a:endParaRPr lang="en-US" sz="5400" dirty="0"/>
          </a:p>
        </p:txBody>
      </p:sp>
      <p:sp>
        <p:nvSpPr>
          <p:cNvPr id="3" name="Content Placeholder 2"/>
          <p:cNvSpPr>
            <a:spLocks noGrp="1"/>
          </p:cNvSpPr>
          <p:nvPr>
            <p:ph idx="1"/>
          </p:nvPr>
        </p:nvSpPr>
        <p:spPr>
          <a:xfrm>
            <a:off x="1129766" y="2098766"/>
            <a:ext cx="10182667" cy="4885508"/>
          </a:xfrm>
        </p:spPr>
        <p:txBody>
          <a:bodyPr>
            <a:normAutofit fontScale="77500" lnSpcReduction="20000"/>
          </a:bodyPr>
          <a:lstStyle/>
          <a:p>
            <a:pPr lvl="0"/>
            <a:r>
              <a:rPr lang="en-US" sz="2800" dirty="0"/>
              <a:t>The FACES application is for criminal justice purposes only and not for public use or dissemination. Use for any purpose other than criminal justice purposes will result in immediate termination of the MOU and immediate loss of access to FACES</a:t>
            </a:r>
          </a:p>
          <a:p>
            <a:pPr lvl="0"/>
            <a:r>
              <a:rPr lang="en-US" sz="2800" dirty="0"/>
              <a:t>Penalties for misuse could include disciplinary action up to and including termination</a:t>
            </a:r>
          </a:p>
          <a:p>
            <a:r>
              <a:rPr lang="en-US" sz="2800" dirty="0"/>
              <a:t>Only Investigators and Crime Analysts will be authorized to use the application </a:t>
            </a:r>
          </a:p>
          <a:p>
            <a:r>
              <a:rPr lang="en-US" sz="2800" dirty="0"/>
              <a:t>Users must successfully complete the FACES online training</a:t>
            </a:r>
          </a:p>
          <a:p>
            <a:r>
              <a:rPr lang="en-US" sz="2800" dirty="0"/>
              <a:t>The training consists of 6 modules with quizzes throughout the training</a:t>
            </a:r>
          </a:p>
          <a:p>
            <a:pPr lvl="2"/>
            <a:r>
              <a:rPr lang="en-US" sz="2800" dirty="0" smtClean="0"/>
              <a:t>Introductions</a:t>
            </a:r>
            <a:r>
              <a:rPr lang="en-US" sz="2800" dirty="0"/>
              <a:t>		</a:t>
            </a:r>
          </a:p>
          <a:p>
            <a:pPr lvl="2"/>
            <a:r>
              <a:rPr lang="en-US" sz="2800" dirty="0"/>
              <a:t>Expectations and your role with FR</a:t>
            </a:r>
          </a:p>
          <a:p>
            <a:pPr lvl="2"/>
            <a:r>
              <a:rPr lang="en-US" sz="2800" dirty="0" smtClean="0"/>
              <a:t>Successful outcomes with FR</a:t>
            </a:r>
          </a:p>
          <a:p>
            <a:pPr lvl="2"/>
            <a:r>
              <a:rPr lang="en-US" sz="2800" dirty="0" smtClean="0"/>
              <a:t>Facial Identification and Comparison</a:t>
            </a:r>
          </a:p>
          <a:p>
            <a:pPr lvl="2"/>
            <a:r>
              <a:rPr lang="en-US" sz="2800" dirty="0" smtClean="0"/>
              <a:t>Image </a:t>
            </a:r>
            <a:r>
              <a:rPr lang="en-US" sz="2800" dirty="0"/>
              <a:t>Assessment and Quality</a:t>
            </a:r>
          </a:p>
          <a:p>
            <a:pPr lvl="2"/>
            <a:r>
              <a:rPr lang="en-US" sz="2800" dirty="0"/>
              <a:t>The FACES Application</a:t>
            </a:r>
          </a:p>
          <a:p>
            <a:endParaRPr lang="en-US" dirty="0"/>
          </a:p>
        </p:txBody>
      </p:sp>
      <p:pic>
        <p:nvPicPr>
          <p:cNvPr id="4" name="Picture 3"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776242" y="284176"/>
            <a:ext cx="1536191" cy="1486412"/>
          </a:xfrm>
          <a:prstGeom prst="rect">
            <a:avLst/>
          </a:prstGeom>
          <a:noFill/>
        </p:spPr>
      </p:pic>
    </p:spTree>
    <p:extLst>
      <p:ext uri="{BB962C8B-B14F-4D97-AF65-F5344CB8AC3E}">
        <p14:creationId xmlns:p14="http://schemas.microsoft.com/office/powerpoint/2010/main" val="3779765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919" y="160450"/>
            <a:ext cx="9784080" cy="1508760"/>
          </a:xfrm>
        </p:spPr>
        <p:txBody>
          <a:bodyPr/>
          <a:lstStyle/>
          <a:p>
            <a:pPr algn="ctr"/>
            <a:r>
              <a:rPr lang="en-US" dirty="0" smtClean="0"/>
              <a:t> </a:t>
            </a:r>
            <a:r>
              <a:rPr lang="en-US" sz="6600" dirty="0" smtClean="0"/>
              <a:t>audits</a:t>
            </a:r>
            <a:r>
              <a:rPr lang="en-US" dirty="0" smtClean="0"/>
              <a:t> </a:t>
            </a:r>
            <a:endParaRPr lang="en-US" dirty="0"/>
          </a:p>
        </p:txBody>
      </p:sp>
      <p:sp>
        <p:nvSpPr>
          <p:cNvPr id="3" name="Content Placeholder 2"/>
          <p:cNvSpPr>
            <a:spLocks noGrp="1"/>
          </p:cNvSpPr>
          <p:nvPr>
            <p:ph idx="1"/>
          </p:nvPr>
        </p:nvSpPr>
        <p:spPr>
          <a:xfrm>
            <a:off x="1202919" y="2608217"/>
            <a:ext cx="9784080" cy="3413760"/>
          </a:xfrm>
        </p:spPr>
        <p:txBody>
          <a:bodyPr/>
          <a:lstStyle/>
          <a:p>
            <a:pPr lvl="0"/>
            <a:r>
              <a:rPr lang="en-US" dirty="0"/>
              <a:t>Monthly audits are conducted by PCSO and our agency to ensure proper usage </a:t>
            </a:r>
          </a:p>
          <a:p>
            <a:pPr lvl="0"/>
            <a:r>
              <a:rPr lang="en-US" dirty="0"/>
              <a:t>FLHSMV requires a separate audit for usage of their database </a:t>
            </a:r>
          </a:p>
          <a:p>
            <a:pPr lvl="0"/>
            <a:r>
              <a:rPr lang="en-US" dirty="0"/>
              <a:t>FACES does not search video feeds </a:t>
            </a:r>
          </a:p>
          <a:p>
            <a:pPr lvl="0"/>
            <a:r>
              <a:rPr lang="en-US" dirty="0"/>
              <a:t>Submissions must be in the form of a still photograph.</a:t>
            </a:r>
          </a:p>
          <a:p>
            <a:pPr lvl="0"/>
            <a:r>
              <a:rPr lang="en-US" dirty="0"/>
              <a:t>FACES can also be used to identify found persons who cannot identify themselves and unidentified deceased persons</a:t>
            </a:r>
          </a:p>
          <a:p>
            <a:pPr marL="0" lvl="0" indent="0">
              <a:buNone/>
            </a:pPr>
            <a:endParaRPr lang="en-US" sz="2400" dirty="0"/>
          </a:p>
        </p:txBody>
      </p:sp>
      <p:pic>
        <p:nvPicPr>
          <p:cNvPr id="10" name="Picture 9" descr="PPPD Logo (1)">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9633687" y="295350"/>
            <a:ext cx="1536191" cy="1486412"/>
          </a:xfrm>
          <a:prstGeom prst="rect">
            <a:avLst/>
          </a:prstGeom>
          <a:noFill/>
        </p:spPr>
      </p:pic>
    </p:spTree>
    <p:extLst>
      <p:ext uri="{BB962C8B-B14F-4D97-AF65-F5344CB8AC3E}">
        <p14:creationId xmlns:p14="http://schemas.microsoft.com/office/powerpoint/2010/main" val="18282846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smtClean="0"/>
              <a:t>summary</a:t>
            </a:r>
            <a:endParaRPr lang="en-US" sz="6600" dirty="0"/>
          </a:p>
        </p:txBody>
      </p:sp>
      <p:sp>
        <p:nvSpPr>
          <p:cNvPr id="3" name="Content Placeholder 2"/>
          <p:cNvSpPr>
            <a:spLocks noGrp="1"/>
          </p:cNvSpPr>
          <p:nvPr>
            <p:ph idx="1"/>
          </p:nvPr>
        </p:nvSpPr>
        <p:spPr>
          <a:xfrm>
            <a:off x="1202919" y="2596896"/>
            <a:ext cx="9784080" cy="3621024"/>
          </a:xfrm>
        </p:spPr>
        <p:txBody>
          <a:bodyPr/>
          <a:lstStyle/>
          <a:p>
            <a:r>
              <a:rPr lang="en-US" dirty="0" smtClean="0"/>
              <a:t>FACES will only be used as an investigative tool to follow up on crimes that have already occurred</a:t>
            </a:r>
          </a:p>
          <a:p>
            <a:r>
              <a:rPr lang="en-US" dirty="0" smtClean="0"/>
              <a:t>FACES will not be utilized to identify individuals who are lawfully assembled</a:t>
            </a:r>
          </a:p>
          <a:p>
            <a:r>
              <a:rPr lang="en-US" dirty="0" smtClean="0"/>
              <a:t>There will be a formal policy in place regarding training, proper use and disciplinary consequences</a:t>
            </a:r>
          </a:p>
          <a:p>
            <a:r>
              <a:rPr lang="en-US" dirty="0" smtClean="0"/>
              <a:t>FACES will be utilized by authorized users only to include detectives and crime analyst.  Patrol personnel will not have access to FACES</a:t>
            </a:r>
            <a:endParaRPr lang="en-US" dirty="0"/>
          </a:p>
        </p:txBody>
      </p:sp>
      <p:pic>
        <p:nvPicPr>
          <p:cNvPr id="4" name="Picture 3" descr="PPPD Logo (1)">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9633687" y="295350"/>
            <a:ext cx="1536191" cy="1486412"/>
          </a:xfrm>
          <a:prstGeom prst="rect">
            <a:avLst/>
          </a:prstGeom>
          <a:noFill/>
        </p:spPr>
      </p:pic>
    </p:spTree>
    <p:extLst>
      <p:ext uri="{BB962C8B-B14F-4D97-AF65-F5344CB8AC3E}">
        <p14:creationId xmlns:p14="http://schemas.microsoft.com/office/powerpoint/2010/main" val="22936339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6552</TotalTime>
  <Words>649</Words>
  <Application>Microsoft Office PowerPoint</Application>
  <PresentationFormat>Widescreen</PresentationFormat>
  <Paragraphs>59</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Corbel</vt:lpstr>
      <vt:lpstr>Wingdings</vt:lpstr>
      <vt:lpstr>Banded</vt:lpstr>
      <vt:lpstr>PEMBROKE PINES  POLICE DEPARTMENT</vt:lpstr>
      <vt:lpstr>Florida’s Facial recognition network</vt:lpstr>
      <vt:lpstr> History</vt:lpstr>
      <vt:lpstr>Faces FR application </vt:lpstr>
      <vt:lpstr> Faces fr application continued</vt:lpstr>
      <vt:lpstr> use/misuse/training</vt:lpstr>
      <vt:lpstr> audits </vt:lpstr>
      <vt:lpstr>summary</vt:lpstr>
    </vt:vector>
  </TitlesOfParts>
  <Company>CoPP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Accountability acTions</dc:title>
  <dc:creator>Vargas, Jose</dc:creator>
  <cp:lastModifiedBy>Graham, Marlene</cp:lastModifiedBy>
  <cp:revision>104</cp:revision>
  <dcterms:created xsi:type="dcterms:W3CDTF">2020-09-29T14:03:52Z</dcterms:created>
  <dcterms:modified xsi:type="dcterms:W3CDTF">2021-03-25T21:47:57Z</dcterms:modified>
</cp:coreProperties>
</file>
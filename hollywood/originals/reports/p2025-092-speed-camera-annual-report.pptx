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268" r:id="rId5"/>
    <p:sldId id="287" r:id="rId6"/>
    <p:sldId id="288" r:id="rId7"/>
    <p:sldId id="286" r:id="rId8"/>
    <p:sldId id="283" r:id="rId9"/>
    <p:sldId id="263" r:id="rId10"/>
    <p:sldId id="274" r:id="rId11"/>
    <p:sldId id="285" r:id="rId12"/>
    <p:sldId id="28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B449"/>
    <a:srgbClr val="005596"/>
    <a:srgbClr val="F7901E"/>
    <a:srgbClr val="BDE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4" autoAdjust="0"/>
    <p:restoredTop sz="94660"/>
  </p:normalViewPr>
  <p:slideViewPr>
    <p:cSldViewPr snapToGrid="0">
      <p:cViewPr varScale="1">
        <p:scale>
          <a:sx n="60" d="100"/>
          <a:sy n="60" d="100"/>
        </p:scale>
        <p:origin x="832" y="52"/>
      </p:cViewPr>
      <p:guideLst/>
    </p:cSldViewPr>
  </p:slideViewPr>
  <p:notesTextViewPr>
    <p:cViewPr>
      <p:scale>
        <a:sx n="1" d="1"/>
        <a:sy n="1" d="1"/>
      </p:scale>
      <p:origin x="0" y="0"/>
    </p:cViewPr>
  </p:notesTextViewPr>
  <p:notesViewPr>
    <p:cSldViewPr snapToGrid="0">
      <p:cViewPr varScale="1">
        <p:scale>
          <a:sx n="88" d="100"/>
          <a:sy n="88" d="100"/>
        </p:scale>
        <p:origin x="3480"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rgbClr val="005596"/>
            </a:solidFill>
          </c:spPr>
          <c:dPt>
            <c:idx val="0"/>
            <c:bubble3D val="0"/>
            <c:spPr>
              <a:solidFill>
                <a:srgbClr val="39B449"/>
              </a:solidFill>
              <a:ln w="19050">
                <a:solidFill>
                  <a:schemeClr val="lt1"/>
                </a:solidFill>
              </a:ln>
              <a:effectLst/>
            </c:spPr>
            <c:extLst>
              <c:ext xmlns:c16="http://schemas.microsoft.com/office/drawing/2014/chart" uri="{C3380CC4-5D6E-409C-BE32-E72D297353CC}">
                <c16:uniqueId val="{00000001-7EAA-457B-B80A-0B1577937BEF}"/>
              </c:ext>
            </c:extLst>
          </c:dPt>
          <c:dPt>
            <c:idx val="1"/>
            <c:bubble3D val="0"/>
            <c:spPr>
              <a:solidFill>
                <a:srgbClr val="F7901E"/>
              </a:solidFill>
              <a:ln w="19050">
                <a:solidFill>
                  <a:schemeClr val="lt1"/>
                </a:solidFill>
              </a:ln>
              <a:effectLst/>
            </c:spPr>
            <c:extLst>
              <c:ext xmlns:c16="http://schemas.microsoft.com/office/drawing/2014/chart" uri="{C3380CC4-5D6E-409C-BE32-E72D297353CC}">
                <c16:uniqueId val="{00000003-7EAA-457B-B80A-0B1577937BEF}"/>
              </c:ext>
            </c:extLst>
          </c:dPt>
          <c:dPt>
            <c:idx val="2"/>
            <c:bubble3D val="0"/>
            <c:spPr>
              <a:solidFill>
                <a:srgbClr val="005596"/>
              </a:solidFill>
              <a:ln w="19050">
                <a:solidFill>
                  <a:schemeClr val="lt1"/>
                </a:solidFill>
              </a:ln>
              <a:effectLst/>
            </c:spPr>
            <c:extLst>
              <c:ext xmlns:c16="http://schemas.microsoft.com/office/drawing/2014/chart" uri="{C3380CC4-5D6E-409C-BE32-E72D297353CC}">
                <c16:uniqueId val="{00000005-7EAA-457B-B80A-0B1577937BEF}"/>
              </c:ext>
            </c:extLst>
          </c:dPt>
          <c:dPt>
            <c:idx val="3"/>
            <c:bubble3D val="0"/>
            <c:spPr>
              <a:solidFill>
                <a:srgbClr val="F7901E"/>
              </a:solidFill>
              <a:ln w="19050">
                <a:solidFill>
                  <a:schemeClr val="lt1"/>
                </a:solidFill>
              </a:ln>
              <a:effectLst/>
            </c:spPr>
            <c:extLst>
              <c:ext xmlns:c16="http://schemas.microsoft.com/office/drawing/2014/chart" uri="{C3380CC4-5D6E-409C-BE32-E72D297353CC}">
                <c16:uniqueId val="{00000007-7EAA-457B-B80A-0B1577937BEF}"/>
              </c:ext>
            </c:extLst>
          </c:dPt>
          <c:dPt>
            <c:idx val="4"/>
            <c:bubble3D val="0"/>
            <c:spPr>
              <a:solidFill>
                <a:srgbClr val="005596"/>
              </a:solidFill>
              <a:ln w="19050">
                <a:solidFill>
                  <a:schemeClr val="lt1"/>
                </a:solidFill>
              </a:ln>
              <a:effectLst/>
            </c:spPr>
            <c:extLst>
              <c:ext xmlns:c16="http://schemas.microsoft.com/office/drawing/2014/chart" uri="{C3380CC4-5D6E-409C-BE32-E72D297353CC}">
                <c16:uniqueId val="{00000009-7EAA-457B-B80A-0B1577937BEF}"/>
              </c:ext>
            </c:extLst>
          </c:dPt>
          <c:dPt>
            <c:idx val="5"/>
            <c:bubble3D val="0"/>
            <c:spPr>
              <a:solidFill>
                <a:srgbClr val="005596"/>
              </a:solidFill>
              <a:ln w="19050">
                <a:solidFill>
                  <a:schemeClr val="lt1"/>
                </a:solidFill>
              </a:ln>
              <a:effectLst/>
            </c:spPr>
            <c:extLst>
              <c:ext xmlns:c16="http://schemas.microsoft.com/office/drawing/2014/chart" uri="{C3380CC4-5D6E-409C-BE32-E72D297353CC}">
                <c16:uniqueId val="{0000000B-7EAA-457B-B80A-0B1577937BEF}"/>
              </c:ext>
            </c:extLst>
          </c:dPt>
          <c:dLbls>
            <c:dLbl>
              <c:idx val="3"/>
              <c:layout>
                <c:manualLayout>
                  <c:x val="-7.9630565141306037E-8"/>
                  <c:y val="8.6323690135474307E-2"/>
                </c:manualLayout>
              </c:layout>
              <c:tx>
                <c:rich>
                  <a:bodyPr/>
                  <a:lstStyle/>
                  <a:p>
                    <a:fld id="{A3D368CA-E0FA-4133-944B-14010AFEA5AC}" type="CATEGORYNAME">
                      <a:rPr lang="en-US" sz="1400" smtClean="0"/>
                      <a:pPr/>
                      <a:t>[CATEGORY NAME]</a:t>
                    </a:fld>
                    <a:r>
                      <a:rPr lang="en-US" sz="1400" baseline="0" dirty="0"/>
                      <a:t> </a:t>
                    </a:r>
                    <a:fld id="{2889DA8F-0BE5-4689-A262-770F0C7C710F}" type="PERCENTAGE">
                      <a:rPr lang="en-US" sz="1400" baseline="0" dirty="0"/>
                      <a:pPr/>
                      <a:t>[PERCENTAGE]</a:t>
                    </a:fld>
                    <a:endParaRPr lang="en-US" sz="1400" baseline="0" dirty="0"/>
                  </a:p>
                </c:rich>
              </c:tx>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42001476032155449"/>
                      <c:h val="0.26595805641307213"/>
                    </c:manualLayout>
                  </c15:layout>
                  <c15:dlblFieldTable/>
                  <c15:showDataLabelsRange val="0"/>
                </c:ext>
                <c:ext xmlns:c16="http://schemas.microsoft.com/office/drawing/2014/chart" uri="{C3380CC4-5D6E-409C-BE32-E72D297353CC}">
                  <c16:uniqueId val="{00000007-7EAA-457B-B80A-0B1577937BEF}"/>
                </c:ext>
              </c:extLst>
            </c:dLbl>
            <c:dLbl>
              <c:idx val="4"/>
              <c:layout>
                <c:manualLayout>
                  <c:x val="-9.8096893197575044E-2"/>
                  <c:y val="9.2643046093348746E-4"/>
                </c:manualLayout>
              </c:layout>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1035210087727402"/>
                      <c:h val="0.13496378982155899"/>
                    </c:manualLayout>
                  </c15:layout>
                </c:ext>
                <c:ext xmlns:c16="http://schemas.microsoft.com/office/drawing/2014/chart" uri="{C3380CC4-5D6E-409C-BE32-E72D297353CC}">
                  <c16:uniqueId val="{00000009-7EAA-457B-B80A-0B1577937BEF}"/>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60606"/>
                    </a:solidFill>
                    <a:latin typeface="+mn-lt"/>
                    <a:ea typeface="+mn-ea"/>
                    <a:cs typeface="+mn-cs"/>
                  </a:defRPr>
                </a:pPr>
                <a:endParaRPr lang="en-US"/>
              </a:p>
            </c:txPr>
            <c:dLblPos val="bestFit"/>
            <c:showLegendKey val="0"/>
            <c:showVal val="0"/>
            <c:showCatName val="1"/>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5"/>
                <c:pt idx="0">
                  <c:v>State</c:v>
                </c:pt>
                <c:pt idx="1">
                  <c:v>School</c:v>
                </c:pt>
                <c:pt idx="2">
                  <c:v>City</c:v>
                </c:pt>
                <c:pt idx="3">
                  <c:v>Crossing Guards</c:v>
                </c:pt>
                <c:pt idx="4">
                  <c:v>FDLE</c:v>
                </c:pt>
              </c:strCache>
            </c:strRef>
          </c:cat>
          <c:val>
            <c:numRef>
              <c:f>Sheet1!$B$2:$B$7</c:f>
              <c:numCache>
                <c:formatCode>General</c:formatCode>
                <c:ptCount val="6"/>
                <c:pt idx="0">
                  <c:v>20</c:v>
                </c:pt>
                <c:pt idx="1">
                  <c:v>12</c:v>
                </c:pt>
                <c:pt idx="2">
                  <c:v>60</c:v>
                </c:pt>
                <c:pt idx="3">
                  <c:v>5</c:v>
                </c:pt>
                <c:pt idx="4">
                  <c:v>3</c:v>
                </c:pt>
              </c:numCache>
            </c:numRef>
          </c:val>
          <c:extLst>
            <c:ext xmlns:c16="http://schemas.microsoft.com/office/drawing/2014/chart" uri="{C3380CC4-5D6E-409C-BE32-E72D297353CC}">
              <c16:uniqueId val="{0000000C-7EAA-457B-B80A-0B1577937BEF}"/>
            </c:ext>
          </c:extLst>
        </c:ser>
        <c:dLbls>
          <c:dLblPos val="bestFit"/>
          <c:showLegendKey val="0"/>
          <c:showVal val="0"/>
          <c:showCatName val="0"/>
          <c:showSerName val="0"/>
          <c:showPercent val="1"/>
          <c:showBubbleSize val="0"/>
          <c:showLeaderLines val="1"/>
        </c:dLbls>
        <c:firstSliceAng val="93"/>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060606"/>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ED3DB1-A606-4C32-9A86-DFC8D4BBFA02}"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5CB569-2D84-4958-B9C7-DFE30746E566}" type="slidenum">
              <a:rPr lang="en-US" smtClean="0"/>
              <a:t>‹#›</a:t>
            </a:fld>
            <a:endParaRPr lang="en-US"/>
          </a:p>
        </p:txBody>
      </p:sp>
    </p:spTree>
    <p:extLst>
      <p:ext uri="{BB962C8B-B14F-4D97-AF65-F5344CB8AC3E}">
        <p14:creationId xmlns:p14="http://schemas.microsoft.com/office/powerpoint/2010/main" val="2513820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678D88A-19E4-4338-9854-322233AA07D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14572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ED514-3EEE-6A26-FFE5-6B8F467357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F7C649-9BFD-B56A-2EF2-D4A17A26C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F26620-C20D-85AD-1CC9-D0E25D23EC2E}"/>
              </a:ext>
            </a:extLst>
          </p:cNvPr>
          <p:cNvSpPr>
            <a:spLocks noGrp="1"/>
          </p:cNvSpPr>
          <p:nvPr>
            <p:ph type="body" idx="1"/>
          </p:nvPr>
        </p:nvSpPr>
        <p:spPr/>
        <p:txBody>
          <a:bodyPr/>
          <a:lstStyle/>
          <a:p>
            <a:r>
              <a:rPr lang="en-US" dirty="0"/>
              <a:t>This is an annual location report, which is also sent to FLHSMV, indicating statistics about each system operating in Hollywood during the reporting period.</a:t>
            </a:r>
          </a:p>
        </p:txBody>
      </p:sp>
      <p:sp>
        <p:nvSpPr>
          <p:cNvPr id="4" name="Slide Number Placeholder 3">
            <a:extLst>
              <a:ext uri="{FF2B5EF4-FFF2-40B4-BE49-F238E27FC236}">
                <a16:creationId xmlns:a16="http://schemas.microsoft.com/office/drawing/2014/main" id="{307EE742-D960-E7DA-05FE-505BD2F2DB49}"/>
              </a:ext>
            </a:extLst>
          </p:cNvPr>
          <p:cNvSpPr>
            <a:spLocks noGrp="1"/>
          </p:cNvSpPr>
          <p:nvPr>
            <p:ph type="sldNum" sz="quarter" idx="5"/>
          </p:nvPr>
        </p:nvSpPr>
        <p:spPr/>
        <p:txBody>
          <a:bodyPr/>
          <a:lstStyle/>
          <a:p>
            <a:fld id="{095CB569-2D84-4958-B9C7-DFE30746E566}" type="slidenum">
              <a:rPr lang="en-US" smtClean="0"/>
              <a:t>2</a:t>
            </a:fld>
            <a:endParaRPr lang="en-US"/>
          </a:p>
        </p:txBody>
      </p:sp>
    </p:spTree>
    <p:extLst>
      <p:ext uri="{BB962C8B-B14F-4D97-AF65-F5344CB8AC3E}">
        <p14:creationId xmlns:p14="http://schemas.microsoft.com/office/powerpoint/2010/main" val="3825437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8D46B-72A9-1627-AAEA-C226F81A11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EE8D9-B355-4DC2-60FD-D1A454BDE5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88A205-0DC6-00FB-572C-490FDC19C6FC}"/>
              </a:ext>
            </a:extLst>
          </p:cNvPr>
          <p:cNvSpPr>
            <a:spLocks noGrp="1"/>
          </p:cNvSpPr>
          <p:nvPr>
            <p:ph type="body" idx="1"/>
          </p:nvPr>
        </p:nvSpPr>
        <p:spPr/>
        <p:txBody>
          <a:bodyPr/>
          <a:lstStyle/>
          <a:p>
            <a:r>
              <a:rPr lang="en-US" dirty="0"/>
              <a:t>This is an annual location report, which is also sent to FLHSMV, indicating statistics about each system operating in Hollywood during the reporting period.</a:t>
            </a:r>
          </a:p>
        </p:txBody>
      </p:sp>
      <p:sp>
        <p:nvSpPr>
          <p:cNvPr id="4" name="Slide Number Placeholder 3">
            <a:extLst>
              <a:ext uri="{FF2B5EF4-FFF2-40B4-BE49-F238E27FC236}">
                <a16:creationId xmlns:a16="http://schemas.microsoft.com/office/drawing/2014/main" id="{3968A172-59EA-B275-DD3C-E8752EA411FF}"/>
              </a:ext>
            </a:extLst>
          </p:cNvPr>
          <p:cNvSpPr>
            <a:spLocks noGrp="1"/>
          </p:cNvSpPr>
          <p:nvPr>
            <p:ph type="sldNum" sz="quarter" idx="5"/>
          </p:nvPr>
        </p:nvSpPr>
        <p:spPr/>
        <p:txBody>
          <a:bodyPr/>
          <a:lstStyle/>
          <a:p>
            <a:fld id="{095CB569-2D84-4958-B9C7-DFE30746E566}" type="slidenum">
              <a:rPr lang="en-US" smtClean="0"/>
              <a:t>3</a:t>
            </a:fld>
            <a:endParaRPr lang="en-US"/>
          </a:p>
        </p:txBody>
      </p:sp>
    </p:spTree>
    <p:extLst>
      <p:ext uri="{BB962C8B-B14F-4D97-AF65-F5344CB8AC3E}">
        <p14:creationId xmlns:p14="http://schemas.microsoft.com/office/powerpoint/2010/main" val="4070761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an annual location report, which is also sent to FLHSMV, indicating statistics about each system operating in Hollywood during the reporting period.</a:t>
            </a:r>
          </a:p>
        </p:txBody>
      </p:sp>
      <p:sp>
        <p:nvSpPr>
          <p:cNvPr id="4" name="Slide Number Placeholder 3"/>
          <p:cNvSpPr>
            <a:spLocks noGrp="1"/>
          </p:cNvSpPr>
          <p:nvPr>
            <p:ph type="sldNum" sz="quarter" idx="5"/>
          </p:nvPr>
        </p:nvSpPr>
        <p:spPr/>
        <p:txBody>
          <a:bodyPr/>
          <a:lstStyle/>
          <a:p>
            <a:fld id="{095CB569-2D84-4958-B9C7-DFE30746E566}" type="slidenum">
              <a:rPr lang="en-US" smtClean="0"/>
              <a:t>4</a:t>
            </a:fld>
            <a:endParaRPr lang="en-US"/>
          </a:p>
        </p:txBody>
      </p:sp>
    </p:spTree>
    <p:extLst>
      <p:ext uri="{BB962C8B-B14F-4D97-AF65-F5344CB8AC3E}">
        <p14:creationId xmlns:p14="http://schemas.microsoft.com/office/powerpoint/2010/main" val="3674065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NOVs issued during the time period listed are based on the date of the violation. NOVs contested and the results of the hearings are based on the magistrate hearing dates withing the reporting period. UTCs issued are based on the issuance date of the UTC.</a:t>
            </a:r>
          </a:p>
        </p:txBody>
      </p:sp>
      <p:sp>
        <p:nvSpPr>
          <p:cNvPr id="4" name="Slide Number Placeholder 3"/>
          <p:cNvSpPr>
            <a:spLocks noGrp="1"/>
          </p:cNvSpPr>
          <p:nvPr>
            <p:ph type="sldNum" sz="quarter" idx="5"/>
          </p:nvPr>
        </p:nvSpPr>
        <p:spPr/>
        <p:txBody>
          <a:bodyPr/>
          <a:lstStyle/>
          <a:p>
            <a:fld id="{095CB569-2D84-4958-B9C7-DFE30746E566}" type="slidenum">
              <a:rPr lang="en-US" smtClean="0"/>
              <a:t>5</a:t>
            </a:fld>
            <a:endParaRPr lang="en-US"/>
          </a:p>
        </p:txBody>
      </p:sp>
    </p:spTree>
    <p:extLst>
      <p:ext uri="{BB962C8B-B14F-4D97-AF65-F5344CB8AC3E}">
        <p14:creationId xmlns:p14="http://schemas.microsoft.com/office/powerpoint/2010/main" val="186319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5CB569-2D84-4958-B9C7-DFE30746E566}" type="slidenum">
              <a:rPr lang="en-US" smtClean="0"/>
              <a:t>6</a:t>
            </a:fld>
            <a:endParaRPr lang="en-US"/>
          </a:p>
        </p:txBody>
      </p:sp>
    </p:spTree>
    <p:extLst>
      <p:ext uri="{BB962C8B-B14F-4D97-AF65-F5344CB8AC3E}">
        <p14:creationId xmlns:p14="http://schemas.microsoft.com/office/powerpoint/2010/main" val="244495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 of $656,245.20</a:t>
            </a:r>
          </a:p>
          <a:p>
            <a:r>
              <a:rPr lang="en-US" dirty="0"/>
              <a:t>Covers cost of employees associated with program</a:t>
            </a:r>
          </a:p>
          <a:p>
            <a:r>
              <a:rPr lang="en-US" dirty="0"/>
              <a:t>Covers cost of school crossing guard contract</a:t>
            </a:r>
          </a:p>
        </p:txBody>
      </p:sp>
      <p:sp>
        <p:nvSpPr>
          <p:cNvPr id="4" name="Slide Number Placeholder 3"/>
          <p:cNvSpPr>
            <a:spLocks noGrp="1"/>
          </p:cNvSpPr>
          <p:nvPr>
            <p:ph type="sldNum" sz="quarter" idx="5"/>
          </p:nvPr>
        </p:nvSpPr>
        <p:spPr/>
        <p:txBody>
          <a:bodyPr/>
          <a:lstStyle/>
          <a:p>
            <a:fld id="{095CB569-2D84-4958-B9C7-DFE30746E566}" type="slidenum">
              <a:rPr lang="en-US" smtClean="0"/>
              <a:t>7</a:t>
            </a:fld>
            <a:endParaRPr lang="en-US"/>
          </a:p>
        </p:txBody>
      </p:sp>
    </p:spTree>
    <p:extLst>
      <p:ext uri="{BB962C8B-B14F-4D97-AF65-F5344CB8AC3E}">
        <p14:creationId xmlns:p14="http://schemas.microsoft.com/office/powerpoint/2010/main" val="211635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represents data aggregation comparing pre-installation speed studies, to 6 months into the program’s operation, at the first 14 schools with systems installed.</a:t>
            </a:r>
          </a:p>
        </p:txBody>
      </p:sp>
      <p:sp>
        <p:nvSpPr>
          <p:cNvPr id="4" name="Slide Number Placeholder 3"/>
          <p:cNvSpPr>
            <a:spLocks noGrp="1"/>
          </p:cNvSpPr>
          <p:nvPr>
            <p:ph type="sldNum" sz="quarter" idx="5"/>
          </p:nvPr>
        </p:nvSpPr>
        <p:spPr/>
        <p:txBody>
          <a:bodyPr/>
          <a:lstStyle/>
          <a:p>
            <a:fld id="{095CB569-2D84-4958-B9C7-DFE30746E566}" type="slidenum">
              <a:rPr lang="en-US" smtClean="0"/>
              <a:t>8</a:t>
            </a:fld>
            <a:endParaRPr lang="en-US"/>
          </a:p>
        </p:txBody>
      </p:sp>
    </p:spTree>
    <p:extLst>
      <p:ext uri="{BB962C8B-B14F-4D97-AF65-F5344CB8AC3E}">
        <p14:creationId xmlns:p14="http://schemas.microsoft.com/office/powerpoint/2010/main" val="1558799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34DB7-03A2-0B5E-3C45-E0B62F439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0C90FE-DB81-A6CC-E25B-516CEEC70E16}"/>
              </a:ext>
            </a:extLst>
          </p:cNvPr>
          <p:cNvSpPr>
            <a:spLocks noGrp="1" noRot="1" noChangeAspect="1"/>
          </p:cNvSpPr>
          <p:nvPr>
            <p:ph type="sldImg"/>
          </p:nvPr>
        </p:nvSpPr>
        <p:spPr>
          <a:xfrm>
            <a:off x="417513" y="701675"/>
            <a:ext cx="6242050" cy="3511550"/>
          </a:xfrm>
        </p:spPr>
      </p:sp>
      <p:sp>
        <p:nvSpPr>
          <p:cNvPr id="3" name="Notes Placeholder 2">
            <a:extLst>
              <a:ext uri="{FF2B5EF4-FFF2-40B4-BE49-F238E27FC236}">
                <a16:creationId xmlns:a16="http://schemas.microsoft.com/office/drawing/2014/main" id="{D5D83B27-BCB2-1658-AC0A-34295CE191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3C95FC-1046-85C4-DA09-E080C38EC42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678D88A-19E4-4338-9854-322233AA07D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61484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990603"/>
            <a:ext cx="10363200" cy="1470025"/>
          </a:xfrm>
          <a:prstGeom prst="rect">
            <a:avLst/>
          </a:prstGeom>
        </p:spPr>
        <p:txBody>
          <a:bodyPr/>
          <a:lstStyle>
            <a:lvl1pPr>
              <a:defRPr>
                <a:solidFill>
                  <a:schemeClr val="tx1">
                    <a:lumMod val="75000"/>
                    <a:lumOff val="25000"/>
                  </a:schemeClr>
                </a:solidFill>
                <a:effectLst/>
                <a:latin typeface="Franklin Gothic Book" pitchFamily="34" charset="0"/>
              </a:defRPr>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lumMod val="75000"/>
                    <a:lumOff val="25000"/>
                  </a:schemeClr>
                </a:solidFill>
                <a:effectLst/>
                <a:latin typeface="Franklin Gothic Book"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5" name="Slide Number Placeholder 4"/>
          <p:cNvSpPr>
            <a:spLocks noGrp="1"/>
          </p:cNvSpPr>
          <p:nvPr>
            <p:ph type="sldNum" sz="quarter" idx="11"/>
          </p:nvPr>
        </p:nvSpPr>
        <p:spPr>
          <a:xfrm>
            <a:off x="5740400" y="6400801"/>
            <a:ext cx="711200" cy="365125"/>
          </a:xfrm>
          <a:prstGeom prst="rect">
            <a:avLst/>
          </a:prstGeom>
        </p:spPr>
        <p:txBody>
          <a:bodyPr/>
          <a:lstStyle>
            <a:lvl1pPr>
              <a:defRPr sz="1200">
                <a:solidFill>
                  <a:schemeClr val="bg1"/>
                </a:solidFill>
              </a:defRPr>
            </a:lvl1pPr>
          </a:lstStyle>
          <a:p>
            <a:fld id="{BC5586A0-C3E6-4B60-9429-234BB5256C0F}" type="slidenum">
              <a:rPr lang="en-US" smtClean="0"/>
              <a:pPr/>
              <a:t>‹#›</a:t>
            </a:fld>
            <a:endParaRPr lang="en-US" dirty="0"/>
          </a:p>
        </p:txBody>
      </p:sp>
    </p:spTree>
    <p:extLst>
      <p:ext uri="{BB962C8B-B14F-4D97-AF65-F5344CB8AC3E}">
        <p14:creationId xmlns:p14="http://schemas.microsoft.com/office/powerpoint/2010/main" val="2669018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solidFill>
                  <a:schemeClr val="tx1">
                    <a:lumMod val="75000"/>
                    <a:lumOff val="25000"/>
                  </a:schemeClr>
                </a:solidFill>
                <a:effectLst/>
                <a:latin typeface="Franklin Gothic Book" pitchFamily="34" charset="0"/>
              </a:defRPr>
            </a:lvl1pPr>
          </a:lstStyle>
          <a:p>
            <a:r>
              <a:rPr lang="en-US" dirty="0"/>
              <a:t>Click to edit Master title style</a:t>
            </a:r>
          </a:p>
        </p:txBody>
      </p:sp>
      <p:sp>
        <p:nvSpPr>
          <p:cNvPr id="3" name="Content Placeholder 2"/>
          <p:cNvSpPr>
            <a:spLocks noGrp="1"/>
          </p:cNvSpPr>
          <p:nvPr>
            <p:ph idx="1"/>
          </p:nvPr>
        </p:nvSpPr>
        <p:spPr>
          <a:xfrm>
            <a:off x="508000" y="1143001"/>
            <a:ext cx="10972800" cy="4525963"/>
          </a:xfrm>
          <a:prstGeom prst="rect">
            <a:avLst/>
          </a:prstGeom>
        </p:spPr>
        <p:txBody>
          <a:bodyPr/>
          <a:lstStyle>
            <a:lvl1pPr>
              <a:defRPr>
                <a:solidFill>
                  <a:schemeClr val="bg1"/>
                </a:solidFill>
                <a:latin typeface="Franklin Gothic Book" pitchFamily="34" charset="0"/>
              </a:defRPr>
            </a:lvl1pPr>
            <a:lvl2pPr>
              <a:defRPr>
                <a:solidFill>
                  <a:schemeClr val="bg1"/>
                </a:solidFill>
                <a:latin typeface="Franklin Gothic Book" pitchFamily="34" charset="0"/>
              </a:defRPr>
            </a:lvl2pPr>
            <a:lvl3pPr>
              <a:defRPr>
                <a:solidFill>
                  <a:schemeClr val="bg1"/>
                </a:solidFill>
                <a:latin typeface="Franklin Gothic Book" pitchFamily="34" charset="0"/>
              </a:defRPr>
            </a:lvl3pPr>
            <a:lvl4pPr>
              <a:defRPr>
                <a:solidFill>
                  <a:schemeClr val="bg1"/>
                </a:solidFill>
                <a:latin typeface="Franklin Gothic Book" pitchFamily="34" charset="0"/>
              </a:defRPr>
            </a:lvl4pPr>
            <a:lvl5pPr>
              <a:defRPr>
                <a:solidFill>
                  <a:schemeClr val="bg1"/>
                </a:solidFill>
                <a:latin typeface="Franklin Gothic Book"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p:cNvSpPr>
            <a:spLocks noGrp="1"/>
          </p:cNvSpPr>
          <p:nvPr>
            <p:ph type="sldNum" sz="quarter" idx="11"/>
          </p:nvPr>
        </p:nvSpPr>
        <p:spPr>
          <a:xfrm>
            <a:off x="5740400" y="6400801"/>
            <a:ext cx="711200" cy="365125"/>
          </a:xfrm>
          <a:prstGeom prst="rect">
            <a:avLst/>
          </a:prstGeom>
        </p:spPr>
        <p:txBody>
          <a:bodyPr/>
          <a:lstStyle>
            <a:lvl1pPr>
              <a:defRPr sz="1200">
                <a:solidFill>
                  <a:schemeClr val="bg1"/>
                </a:solidFill>
              </a:defRPr>
            </a:lvl1pPr>
          </a:lstStyle>
          <a:p>
            <a:fld id="{BC5586A0-C3E6-4B60-9429-234BB5256C0F}" type="slidenum">
              <a:rPr lang="en-US" smtClean="0"/>
              <a:pPr/>
              <a:t>‹#›</a:t>
            </a:fld>
            <a:endParaRPr lang="en-US" dirty="0"/>
          </a:p>
        </p:txBody>
      </p:sp>
    </p:spTree>
    <p:extLst>
      <p:ext uri="{BB962C8B-B14F-4D97-AF65-F5344CB8AC3E}">
        <p14:creationId xmlns:p14="http://schemas.microsoft.com/office/powerpoint/2010/main" val="2753958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3000" b="1" cap="all">
                <a:solidFill>
                  <a:schemeClr val="tx1">
                    <a:lumMod val="75000"/>
                    <a:lumOff val="25000"/>
                  </a:schemeClr>
                </a:solidFill>
                <a:effectLst/>
                <a:latin typeface="Franklin Gothic Book" pitchFamily="34" charset="0"/>
              </a:defRPr>
            </a:lvl1pPr>
          </a:lstStyle>
          <a:p>
            <a:r>
              <a:rPr lang="en-US" dirty="0"/>
              <a:t>Click to edit Master title style</a:t>
            </a:r>
          </a:p>
        </p:txBody>
      </p:sp>
      <p:sp>
        <p:nvSpPr>
          <p:cNvPr id="3" name="Text Placeholder 2"/>
          <p:cNvSpPr>
            <a:spLocks noGrp="1"/>
          </p:cNvSpPr>
          <p:nvPr>
            <p:ph type="body" idx="1"/>
          </p:nvPr>
        </p:nvSpPr>
        <p:spPr>
          <a:xfrm>
            <a:off x="1016000" y="685803"/>
            <a:ext cx="10363200" cy="1500187"/>
          </a:xfrm>
          <a:prstGeom prst="rect">
            <a:avLst/>
          </a:prstGeom>
        </p:spPr>
        <p:txBody>
          <a:bodyPr anchor="b"/>
          <a:lstStyle>
            <a:lvl1pPr marL="0" indent="0">
              <a:buNone/>
              <a:defRPr sz="1500">
                <a:solidFill>
                  <a:schemeClr val="bg1"/>
                </a:solidFill>
                <a:latin typeface="Century Gothic"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6" name="Slide Number Placeholder 4"/>
          <p:cNvSpPr>
            <a:spLocks noGrp="1"/>
          </p:cNvSpPr>
          <p:nvPr>
            <p:ph type="sldNum" sz="quarter" idx="11"/>
          </p:nvPr>
        </p:nvSpPr>
        <p:spPr>
          <a:xfrm>
            <a:off x="5740400" y="6400801"/>
            <a:ext cx="711200" cy="365125"/>
          </a:xfrm>
          <a:prstGeom prst="rect">
            <a:avLst/>
          </a:prstGeom>
        </p:spPr>
        <p:txBody>
          <a:bodyPr/>
          <a:lstStyle>
            <a:lvl1pPr>
              <a:defRPr sz="1200">
                <a:solidFill>
                  <a:schemeClr val="bg1"/>
                </a:solidFill>
              </a:defRPr>
            </a:lvl1pPr>
          </a:lstStyle>
          <a:p>
            <a:fld id="{BC5586A0-C3E6-4B60-9429-234BB5256C0F}" type="slidenum">
              <a:rPr lang="en-US" smtClean="0"/>
              <a:pPr/>
              <a:t>‹#›</a:t>
            </a:fld>
            <a:endParaRPr lang="en-US" dirty="0"/>
          </a:p>
        </p:txBody>
      </p:sp>
    </p:spTree>
    <p:extLst>
      <p:ext uri="{BB962C8B-B14F-4D97-AF65-F5344CB8AC3E}">
        <p14:creationId xmlns:p14="http://schemas.microsoft.com/office/powerpoint/2010/main" val="991791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solidFill>
                  <a:schemeClr val="tx1">
                    <a:lumMod val="75000"/>
                    <a:lumOff val="25000"/>
                  </a:schemeClr>
                </a:solidFill>
                <a:effectLst/>
                <a:latin typeface="Franklin Gothic Book" pitchFamily="34" charset="0"/>
              </a:defRPr>
            </a:lvl1pPr>
          </a:lstStyle>
          <a:p>
            <a:r>
              <a:rPr lang="en-US" dirty="0"/>
              <a:t>Click to edit Master title style</a:t>
            </a:r>
          </a:p>
        </p:txBody>
      </p:sp>
      <p:sp>
        <p:nvSpPr>
          <p:cNvPr id="3" name="Content Placeholder 2"/>
          <p:cNvSpPr>
            <a:spLocks noGrp="1"/>
          </p:cNvSpPr>
          <p:nvPr>
            <p:ph sz="half" idx="1"/>
          </p:nvPr>
        </p:nvSpPr>
        <p:spPr>
          <a:xfrm>
            <a:off x="609600" y="1600203"/>
            <a:ext cx="5384800" cy="4525963"/>
          </a:xfrm>
          <a:prstGeom prst="rect">
            <a:avLst/>
          </a:prstGeom>
        </p:spPr>
        <p:txBody>
          <a:bodyPr/>
          <a:lstStyle>
            <a:lvl1pPr>
              <a:defRPr sz="2100">
                <a:solidFill>
                  <a:schemeClr val="tx1">
                    <a:lumMod val="75000"/>
                    <a:lumOff val="25000"/>
                  </a:schemeClr>
                </a:solidFill>
                <a:effectLst/>
                <a:latin typeface="Franklin Gothic Book" pitchFamily="34" charset="0"/>
              </a:defRPr>
            </a:lvl1pPr>
            <a:lvl2pPr>
              <a:defRPr sz="1800">
                <a:solidFill>
                  <a:schemeClr val="tx1">
                    <a:lumMod val="75000"/>
                    <a:lumOff val="25000"/>
                  </a:schemeClr>
                </a:solidFill>
                <a:effectLst/>
                <a:latin typeface="Franklin Gothic Book" pitchFamily="34" charset="0"/>
              </a:defRPr>
            </a:lvl2pPr>
            <a:lvl3pPr>
              <a:defRPr sz="1500">
                <a:solidFill>
                  <a:schemeClr val="tx1">
                    <a:lumMod val="75000"/>
                    <a:lumOff val="25000"/>
                  </a:schemeClr>
                </a:solidFill>
                <a:effectLst/>
                <a:latin typeface="Franklin Gothic Book" pitchFamily="34" charset="0"/>
              </a:defRPr>
            </a:lvl3pPr>
            <a:lvl4pPr>
              <a:defRPr sz="1350">
                <a:solidFill>
                  <a:schemeClr val="tx1">
                    <a:lumMod val="75000"/>
                    <a:lumOff val="25000"/>
                  </a:schemeClr>
                </a:solidFill>
                <a:effectLst/>
                <a:latin typeface="Franklin Gothic Book" pitchFamily="34" charset="0"/>
              </a:defRPr>
            </a:lvl4pPr>
            <a:lvl5pPr>
              <a:defRPr sz="1350">
                <a:solidFill>
                  <a:schemeClr val="tx1">
                    <a:lumMod val="75000"/>
                    <a:lumOff val="25000"/>
                  </a:schemeClr>
                </a:solidFill>
                <a:effectLst/>
                <a:latin typeface="Franklin Gothic Book" pitchFamily="34" charset="0"/>
              </a:defRPr>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3"/>
            <a:ext cx="5384800" cy="4525963"/>
          </a:xfrm>
          <a:prstGeom prst="rect">
            <a:avLst/>
          </a:prstGeom>
        </p:spPr>
        <p:txBody>
          <a:bodyPr/>
          <a:lstStyle>
            <a:lvl1pPr>
              <a:defRPr sz="2100">
                <a:solidFill>
                  <a:schemeClr val="tx1">
                    <a:lumMod val="75000"/>
                    <a:lumOff val="25000"/>
                  </a:schemeClr>
                </a:solidFill>
                <a:effectLst/>
                <a:latin typeface="Franklin Gothic Book" pitchFamily="34" charset="0"/>
              </a:defRPr>
            </a:lvl1pPr>
            <a:lvl2pPr>
              <a:defRPr sz="1800">
                <a:solidFill>
                  <a:schemeClr val="tx1">
                    <a:lumMod val="75000"/>
                    <a:lumOff val="25000"/>
                  </a:schemeClr>
                </a:solidFill>
                <a:effectLst/>
                <a:latin typeface="Franklin Gothic Book" pitchFamily="34" charset="0"/>
              </a:defRPr>
            </a:lvl2pPr>
            <a:lvl3pPr>
              <a:defRPr sz="1500">
                <a:solidFill>
                  <a:schemeClr val="tx1">
                    <a:lumMod val="75000"/>
                    <a:lumOff val="25000"/>
                  </a:schemeClr>
                </a:solidFill>
                <a:effectLst/>
                <a:latin typeface="Franklin Gothic Book" pitchFamily="34" charset="0"/>
              </a:defRPr>
            </a:lvl3pPr>
            <a:lvl4pPr>
              <a:defRPr sz="1350">
                <a:solidFill>
                  <a:schemeClr val="tx1">
                    <a:lumMod val="75000"/>
                    <a:lumOff val="25000"/>
                  </a:schemeClr>
                </a:solidFill>
                <a:effectLst/>
                <a:latin typeface="Franklin Gothic Book" pitchFamily="34" charset="0"/>
              </a:defRPr>
            </a:lvl4pPr>
            <a:lvl5pPr>
              <a:defRPr sz="1350">
                <a:solidFill>
                  <a:schemeClr val="tx1">
                    <a:lumMod val="75000"/>
                    <a:lumOff val="25000"/>
                  </a:schemeClr>
                </a:solidFill>
                <a:effectLst/>
                <a:latin typeface="Franklin Gothic Book" pitchFamily="34" charset="0"/>
              </a:defRPr>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p:cNvSpPr>
            <a:spLocks noGrp="1"/>
          </p:cNvSpPr>
          <p:nvPr>
            <p:ph type="sldNum" sz="quarter" idx="11"/>
          </p:nvPr>
        </p:nvSpPr>
        <p:spPr>
          <a:xfrm>
            <a:off x="5740400" y="6400801"/>
            <a:ext cx="711200" cy="365125"/>
          </a:xfrm>
          <a:prstGeom prst="rect">
            <a:avLst/>
          </a:prstGeom>
        </p:spPr>
        <p:txBody>
          <a:bodyPr/>
          <a:lstStyle>
            <a:lvl1pPr>
              <a:defRPr sz="1200">
                <a:solidFill>
                  <a:schemeClr val="bg1"/>
                </a:solidFill>
              </a:defRPr>
            </a:lvl1pPr>
          </a:lstStyle>
          <a:p>
            <a:fld id="{BC5586A0-C3E6-4B60-9429-234BB5256C0F}" type="slidenum">
              <a:rPr lang="en-US" smtClean="0"/>
              <a:pPr/>
              <a:t>‹#›</a:t>
            </a:fld>
            <a:endParaRPr lang="en-US" dirty="0"/>
          </a:p>
        </p:txBody>
      </p:sp>
    </p:spTree>
    <p:extLst>
      <p:ext uri="{BB962C8B-B14F-4D97-AF65-F5344CB8AC3E}">
        <p14:creationId xmlns:p14="http://schemas.microsoft.com/office/powerpoint/2010/main" val="688591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lang="en-US" sz="3600" kern="1200" spc="-113" dirty="0">
                <a:ln w="3175">
                  <a:noFill/>
                </a:ln>
                <a:solidFill>
                  <a:schemeClr val="tx1">
                    <a:lumMod val="75000"/>
                    <a:lumOff val="25000"/>
                  </a:schemeClr>
                </a:solidFill>
                <a:effectLst/>
                <a:latin typeface="Franklin Gothic Book" pitchFamily="34" charset="0"/>
                <a:ea typeface="+mn-ea"/>
                <a:cs typeface="Arial" charset="0"/>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1800" b="1">
                <a:solidFill>
                  <a:schemeClr val="tx1">
                    <a:lumMod val="75000"/>
                    <a:lumOff val="25000"/>
                  </a:schemeClr>
                </a:solidFill>
                <a:effectLst/>
                <a:latin typeface="Franklin Gothic Book"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1800">
                <a:solidFill>
                  <a:schemeClr val="tx1">
                    <a:lumMod val="75000"/>
                    <a:lumOff val="25000"/>
                  </a:schemeClr>
                </a:solidFill>
                <a:effectLst/>
                <a:latin typeface="Franklin Gothic Book" pitchFamily="34" charset="0"/>
              </a:defRPr>
            </a:lvl1pPr>
            <a:lvl2pPr>
              <a:defRPr sz="1500">
                <a:solidFill>
                  <a:schemeClr val="tx1">
                    <a:lumMod val="75000"/>
                    <a:lumOff val="25000"/>
                  </a:schemeClr>
                </a:solidFill>
                <a:effectLst/>
                <a:latin typeface="Franklin Gothic Book" pitchFamily="34" charset="0"/>
              </a:defRPr>
            </a:lvl2pPr>
            <a:lvl3pPr>
              <a:defRPr sz="1350">
                <a:solidFill>
                  <a:schemeClr val="tx1">
                    <a:lumMod val="75000"/>
                    <a:lumOff val="25000"/>
                  </a:schemeClr>
                </a:solidFill>
                <a:effectLst/>
                <a:latin typeface="Franklin Gothic Book" pitchFamily="34" charset="0"/>
              </a:defRPr>
            </a:lvl3pPr>
            <a:lvl4pPr>
              <a:defRPr sz="1200">
                <a:solidFill>
                  <a:schemeClr val="tx1">
                    <a:lumMod val="75000"/>
                    <a:lumOff val="25000"/>
                  </a:schemeClr>
                </a:solidFill>
                <a:effectLst/>
                <a:latin typeface="Franklin Gothic Book" pitchFamily="34" charset="0"/>
              </a:defRPr>
            </a:lvl4pPr>
            <a:lvl5pPr>
              <a:defRPr sz="1200">
                <a:solidFill>
                  <a:schemeClr val="tx1">
                    <a:lumMod val="75000"/>
                    <a:lumOff val="25000"/>
                  </a:schemeClr>
                </a:solidFill>
                <a:effectLst/>
                <a:latin typeface="Franklin Gothic Book" pitchFamily="34" charset="0"/>
              </a:defRPr>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535113"/>
            <a:ext cx="5389033" cy="639762"/>
          </a:xfrm>
          <a:prstGeom prst="rect">
            <a:avLst/>
          </a:prstGeom>
        </p:spPr>
        <p:txBody>
          <a:bodyPr anchor="b"/>
          <a:lstStyle>
            <a:lvl1pPr marL="0" indent="0">
              <a:buNone/>
              <a:defRPr lang="en-US" sz="1800" b="1" kern="1200" dirty="0" smtClean="0">
                <a:solidFill>
                  <a:schemeClr val="tx1">
                    <a:lumMod val="75000"/>
                    <a:lumOff val="25000"/>
                  </a:schemeClr>
                </a:solidFill>
                <a:effectLst/>
                <a:latin typeface="Franklin Gothic Book" pitchFamily="34" charset="0"/>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spcBef>
                <a:spcPct val="20000"/>
              </a:spcBef>
              <a:buFont typeface="Arial" pitchFamily="34" charset="0"/>
              <a:buNone/>
            </a:pPr>
            <a:r>
              <a:rPr lang="en-US" dirty="0"/>
              <a:t>Click to edit Master text styles</a:t>
            </a:r>
          </a:p>
        </p:txBody>
      </p:sp>
      <p:sp>
        <p:nvSpPr>
          <p:cNvPr id="6" name="Content Placeholder 5"/>
          <p:cNvSpPr>
            <a:spLocks noGrp="1"/>
          </p:cNvSpPr>
          <p:nvPr>
            <p:ph sz="quarter" idx="4"/>
          </p:nvPr>
        </p:nvSpPr>
        <p:spPr>
          <a:xfrm>
            <a:off x="6193369" y="2174875"/>
            <a:ext cx="5389033" cy="3951288"/>
          </a:xfrm>
          <a:prstGeom prst="rect">
            <a:avLst/>
          </a:prstGeom>
        </p:spPr>
        <p:txBody>
          <a:bodyPr/>
          <a:lstStyle>
            <a:lvl1pPr>
              <a:defRPr sz="1800">
                <a:solidFill>
                  <a:schemeClr val="tx1">
                    <a:lumMod val="75000"/>
                    <a:lumOff val="25000"/>
                  </a:schemeClr>
                </a:solidFill>
                <a:effectLst/>
                <a:latin typeface="Franklin Gothic Book" pitchFamily="34" charset="0"/>
              </a:defRPr>
            </a:lvl1pPr>
            <a:lvl2pPr>
              <a:defRPr sz="1500">
                <a:solidFill>
                  <a:schemeClr val="tx1">
                    <a:lumMod val="75000"/>
                    <a:lumOff val="25000"/>
                  </a:schemeClr>
                </a:solidFill>
                <a:effectLst/>
                <a:latin typeface="Franklin Gothic Book" pitchFamily="34" charset="0"/>
              </a:defRPr>
            </a:lvl2pPr>
            <a:lvl3pPr>
              <a:defRPr sz="1350">
                <a:solidFill>
                  <a:schemeClr val="tx1">
                    <a:lumMod val="75000"/>
                    <a:lumOff val="25000"/>
                  </a:schemeClr>
                </a:solidFill>
                <a:effectLst/>
                <a:latin typeface="Franklin Gothic Book" pitchFamily="34" charset="0"/>
              </a:defRPr>
            </a:lvl3pPr>
            <a:lvl4pPr>
              <a:defRPr sz="1200">
                <a:solidFill>
                  <a:schemeClr val="tx1">
                    <a:lumMod val="75000"/>
                    <a:lumOff val="25000"/>
                  </a:schemeClr>
                </a:solidFill>
                <a:effectLst/>
                <a:latin typeface="Franklin Gothic Book" pitchFamily="34" charset="0"/>
              </a:defRPr>
            </a:lvl4pPr>
            <a:lvl5pPr>
              <a:defRPr sz="1200">
                <a:solidFill>
                  <a:schemeClr val="tx1">
                    <a:lumMod val="75000"/>
                    <a:lumOff val="25000"/>
                  </a:schemeClr>
                </a:solidFill>
                <a:effectLst/>
                <a:latin typeface="Franklin Gothic Book" pitchFamily="34" charset="0"/>
              </a:defRPr>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p:cNvSpPr>
            <a:spLocks noGrp="1"/>
          </p:cNvSpPr>
          <p:nvPr>
            <p:ph type="sldNum" sz="quarter" idx="11"/>
          </p:nvPr>
        </p:nvSpPr>
        <p:spPr>
          <a:xfrm>
            <a:off x="5740400" y="6400801"/>
            <a:ext cx="711200" cy="365125"/>
          </a:xfrm>
          <a:prstGeom prst="rect">
            <a:avLst/>
          </a:prstGeom>
        </p:spPr>
        <p:txBody>
          <a:bodyPr/>
          <a:lstStyle>
            <a:lvl1pPr>
              <a:defRPr sz="1200">
                <a:solidFill>
                  <a:schemeClr val="bg1"/>
                </a:solidFill>
              </a:defRPr>
            </a:lvl1pPr>
          </a:lstStyle>
          <a:p>
            <a:fld id="{BC5586A0-C3E6-4B60-9429-234BB5256C0F}" type="slidenum">
              <a:rPr lang="en-US" smtClean="0"/>
              <a:pPr/>
              <a:t>‹#›</a:t>
            </a:fld>
            <a:endParaRPr lang="en-US" dirty="0"/>
          </a:p>
        </p:txBody>
      </p:sp>
    </p:spTree>
    <p:extLst>
      <p:ext uri="{BB962C8B-B14F-4D97-AF65-F5344CB8AC3E}">
        <p14:creationId xmlns:p14="http://schemas.microsoft.com/office/powerpoint/2010/main" val="80042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lang="en-US" sz="3600" kern="1200" spc="-113" dirty="0">
                <a:ln w="3175">
                  <a:noFill/>
                </a:ln>
                <a:solidFill>
                  <a:schemeClr val="tx1">
                    <a:lumMod val="75000"/>
                    <a:lumOff val="25000"/>
                  </a:schemeClr>
                </a:solidFill>
                <a:effectLst/>
                <a:latin typeface="Franklin Gothic Book" pitchFamily="34" charset="0"/>
                <a:ea typeface="+mn-ea"/>
                <a:cs typeface="Arial" charset="0"/>
              </a:defRPr>
            </a:lvl1pPr>
          </a:lstStyle>
          <a:p>
            <a:r>
              <a:rPr lang="en-US" dirty="0"/>
              <a:t>Click to edit Master title style</a:t>
            </a:r>
          </a:p>
        </p:txBody>
      </p:sp>
      <p:sp>
        <p:nvSpPr>
          <p:cNvPr id="5" name="Slide Number Placeholder 4"/>
          <p:cNvSpPr>
            <a:spLocks noGrp="1"/>
          </p:cNvSpPr>
          <p:nvPr>
            <p:ph type="sldNum" sz="quarter" idx="11"/>
          </p:nvPr>
        </p:nvSpPr>
        <p:spPr>
          <a:xfrm>
            <a:off x="5740400" y="6400801"/>
            <a:ext cx="711200" cy="365125"/>
          </a:xfrm>
          <a:prstGeom prst="rect">
            <a:avLst/>
          </a:prstGeom>
        </p:spPr>
        <p:txBody>
          <a:bodyPr/>
          <a:lstStyle>
            <a:lvl1pPr>
              <a:defRPr sz="1200">
                <a:solidFill>
                  <a:schemeClr val="bg1"/>
                </a:solidFill>
              </a:defRPr>
            </a:lvl1pPr>
          </a:lstStyle>
          <a:p>
            <a:fld id="{BC5586A0-C3E6-4B60-9429-234BB5256C0F}" type="slidenum">
              <a:rPr lang="en-US" smtClean="0"/>
              <a:pPr/>
              <a:t>‹#›</a:t>
            </a:fld>
            <a:endParaRPr lang="en-US" dirty="0"/>
          </a:p>
        </p:txBody>
      </p:sp>
    </p:spTree>
    <p:extLst>
      <p:ext uri="{BB962C8B-B14F-4D97-AF65-F5344CB8AC3E}">
        <p14:creationId xmlns:p14="http://schemas.microsoft.com/office/powerpoint/2010/main" val="4161049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0" cy="1143000"/>
          </a:xfrm>
          <a:prstGeom prst="rect">
            <a:avLst/>
          </a:prstGeom>
        </p:spPr>
        <p:txBody>
          <a:bodyPr/>
          <a:lstStyle>
            <a:lvl1pPr>
              <a:defRPr>
                <a:solidFill>
                  <a:schemeClr val="bg1"/>
                </a:solidFill>
                <a:latin typeface="Franklin Gothic Book" pitchFamily="34" charset="0"/>
              </a:defRPr>
            </a:lvl1pPr>
          </a:lstStyle>
          <a:p>
            <a:r>
              <a:rPr lang="en-US" dirty="0"/>
              <a:t>Click to edit Master title style</a:t>
            </a:r>
          </a:p>
        </p:txBody>
      </p:sp>
      <p:sp>
        <p:nvSpPr>
          <p:cNvPr id="5" name="Slide Number Placeholder 4"/>
          <p:cNvSpPr>
            <a:spLocks noGrp="1"/>
          </p:cNvSpPr>
          <p:nvPr>
            <p:ph type="sldNum" sz="quarter" idx="11"/>
          </p:nvPr>
        </p:nvSpPr>
        <p:spPr>
          <a:xfrm>
            <a:off x="5740400" y="6400801"/>
            <a:ext cx="711200" cy="365125"/>
          </a:xfrm>
          <a:prstGeom prst="rect">
            <a:avLst/>
          </a:prstGeom>
        </p:spPr>
        <p:txBody>
          <a:bodyPr/>
          <a:lstStyle>
            <a:lvl1pPr>
              <a:defRPr sz="1200">
                <a:solidFill>
                  <a:schemeClr val="bg1"/>
                </a:solidFill>
              </a:defRPr>
            </a:lvl1pPr>
          </a:lstStyle>
          <a:p>
            <a:fld id="{BC5586A0-C3E6-4B60-9429-234BB5256C0F}" type="slidenum">
              <a:rPr lang="en-US" smtClean="0"/>
              <a:pPr/>
              <a:t>‹#›</a:t>
            </a:fld>
            <a:endParaRPr lang="en-US" dirty="0"/>
          </a:p>
        </p:txBody>
      </p:sp>
    </p:spTree>
    <p:extLst>
      <p:ext uri="{BB962C8B-B14F-4D97-AF65-F5344CB8AC3E}">
        <p14:creationId xmlns:p14="http://schemas.microsoft.com/office/powerpoint/2010/main" val="2645030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a:prstGeom prst="rect">
            <a:avLst/>
          </a:prstGeom>
        </p:spPr>
        <p:txBody>
          <a:bodyPr anchor="b"/>
          <a:lstStyle>
            <a:lvl1pPr algn="l">
              <a:defRPr sz="1500" b="1">
                <a:solidFill>
                  <a:schemeClr val="tx1">
                    <a:lumMod val="75000"/>
                    <a:lumOff val="25000"/>
                  </a:schemeClr>
                </a:solidFill>
                <a:effectLst/>
                <a:latin typeface="Century Gothic" pitchFamily="34" charset="0"/>
              </a:defRPr>
            </a:lvl1pPr>
          </a:lstStyle>
          <a:p>
            <a:r>
              <a:rPr lang="en-US" dirty="0"/>
              <a:t>Click to edit Master title style</a:t>
            </a:r>
          </a:p>
        </p:txBody>
      </p:sp>
      <p:sp>
        <p:nvSpPr>
          <p:cNvPr id="4" name="Text Placeholder 3"/>
          <p:cNvSpPr>
            <a:spLocks noGrp="1"/>
          </p:cNvSpPr>
          <p:nvPr>
            <p:ph type="body" sz="half" idx="2"/>
          </p:nvPr>
        </p:nvSpPr>
        <p:spPr>
          <a:xfrm>
            <a:off x="609602" y="1435103"/>
            <a:ext cx="4011084" cy="4691063"/>
          </a:xfrm>
          <a:prstGeom prst="rect">
            <a:avLst/>
          </a:prstGeom>
        </p:spPr>
        <p:txBody>
          <a:bodyPr/>
          <a:lstStyle>
            <a:lvl1pPr marL="0" indent="0">
              <a:buNone/>
              <a:defRPr sz="1050">
                <a:solidFill>
                  <a:schemeClr val="tx1">
                    <a:lumMod val="75000"/>
                    <a:lumOff val="25000"/>
                  </a:schemeClr>
                </a:solidFill>
                <a:effectLst/>
                <a:latin typeface="Century Gothic" pitchFamily="34"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Slide Number Placeholder 4"/>
          <p:cNvSpPr>
            <a:spLocks noGrp="1"/>
          </p:cNvSpPr>
          <p:nvPr>
            <p:ph type="sldNum" sz="quarter" idx="11"/>
          </p:nvPr>
        </p:nvSpPr>
        <p:spPr>
          <a:xfrm>
            <a:off x="5740400" y="6400801"/>
            <a:ext cx="711200" cy="365125"/>
          </a:xfrm>
          <a:prstGeom prst="rect">
            <a:avLst/>
          </a:prstGeom>
        </p:spPr>
        <p:txBody>
          <a:bodyPr/>
          <a:lstStyle>
            <a:lvl1pPr>
              <a:defRPr sz="1200">
                <a:solidFill>
                  <a:schemeClr val="bg1"/>
                </a:solidFill>
              </a:defRPr>
            </a:lvl1pPr>
          </a:lstStyle>
          <a:p>
            <a:fld id="{BC5586A0-C3E6-4B60-9429-234BB5256C0F}" type="slidenum">
              <a:rPr lang="en-US" smtClean="0"/>
              <a:pPr/>
              <a:t>‹#›</a:t>
            </a:fld>
            <a:endParaRPr lang="en-US" dirty="0"/>
          </a:p>
        </p:txBody>
      </p:sp>
    </p:spTree>
    <p:extLst>
      <p:ext uri="{BB962C8B-B14F-4D97-AF65-F5344CB8AC3E}">
        <p14:creationId xmlns:p14="http://schemas.microsoft.com/office/powerpoint/2010/main" val="3262752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7" name="Title 1"/>
          <p:cNvSpPr txBox="1">
            <a:spLocks/>
          </p:cNvSpPr>
          <p:nvPr userDrawn="1"/>
        </p:nvSpPr>
        <p:spPr>
          <a:xfrm>
            <a:off x="609600" y="274638"/>
            <a:ext cx="10972800" cy="1143000"/>
          </a:xfrm>
          <a:prstGeom prst="rect">
            <a:avLst/>
          </a:prstGeom>
        </p:spPr>
        <p:txBody>
          <a:bodyPr/>
          <a:lstStyle>
            <a:lvl1pPr algn="ctr" defTabSz="685800" rtl="0" eaLnBrk="1" latinLnBrk="0" hangingPunct="1">
              <a:spcBef>
                <a:spcPct val="0"/>
              </a:spcBef>
              <a:buNone/>
              <a:defRPr lang="en-US" sz="3600" kern="1200" spc="-113">
                <a:ln w="3175">
                  <a:noFill/>
                </a:ln>
                <a:solidFill>
                  <a:schemeClr val="bg1"/>
                </a:solidFill>
                <a:effectLst>
                  <a:outerShdw blurRad="50800" dist="38100" dir="2700000" algn="tl" rotWithShape="0">
                    <a:prstClr val="black">
                      <a:alpha val="40000"/>
                    </a:prstClr>
                  </a:outerShdw>
                </a:effectLst>
                <a:latin typeface="Franklin Gothic Book" pitchFamily="34" charset="0"/>
                <a:ea typeface="+mn-ea"/>
                <a:cs typeface="Arial" charset="0"/>
              </a:defRPr>
            </a:lvl1pPr>
          </a:lstStyle>
          <a:p>
            <a:r>
              <a:rPr lang="en-US" sz="3600" dirty="0"/>
              <a:t>Click to edit Master title style</a:t>
            </a:r>
          </a:p>
        </p:txBody>
      </p:sp>
      <p:sp>
        <p:nvSpPr>
          <p:cNvPr id="4" name="Slide Number Placeholder 4"/>
          <p:cNvSpPr>
            <a:spLocks noGrp="1"/>
          </p:cNvSpPr>
          <p:nvPr>
            <p:ph type="sldNum" sz="quarter" idx="11"/>
          </p:nvPr>
        </p:nvSpPr>
        <p:spPr>
          <a:xfrm>
            <a:off x="5740400" y="6400801"/>
            <a:ext cx="711200" cy="365125"/>
          </a:xfrm>
          <a:prstGeom prst="rect">
            <a:avLst/>
          </a:prstGeom>
        </p:spPr>
        <p:txBody>
          <a:bodyPr/>
          <a:lstStyle>
            <a:lvl1pPr>
              <a:defRPr sz="1200">
                <a:solidFill>
                  <a:schemeClr val="bg1"/>
                </a:solidFill>
              </a:defRPr>
            </a:lvl1pPr>
          </a:lstStyle>
          <a:p>
            <a:fld id="{BC5586A0-C3E6-4B60-9429-234BB5256C0F}" type="slidenum">
              <a:rPr lang="en-US" smtClean="0"/>
              <a:pPr/>
              <a:t>‹#›</a:t>
            </a:fld>
            <a:endParaRPr lang="en-US" dirty="0"/>
          </a:p>
        </p:txBody>
      </p:sp>
    </p:spTree>
    <p:extLst>
      <p:ext uri="{BB962C8B-B14F-4D97-AF65-F5344CB8AC3E}">
        <p14:creationId xmlns:p14="http://schemas.microsoft.com/office/powerpoint/2010/main" val="4243554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solidFill>
                  <a:schemeClr val="bg1"/>
                </a:solidFill>
                <a:latin typeface="Franklin Gothic Book" pitchFamily="34" charset="0"/>
              </a:defRPr>
            </a:lvl1pPr>
          </a:lstStyle>
          <a:p>
            <a:r>
              <a:rPr lang="en-US" dirty="0"/>
              <a:t>Click to edit Master title style</a:t>
            </a:r>
          </a:p>
        </p:txBody>
      </p:sp>
      <p:sp>
        <p:nvSpPr>
          <p:cNvPr id="4" name="Slide Number Placeholder 4"/>
          <p:cNvSpPr>
            <a:spLocks noGrp="1"/>
          </p:cNvSpPr>
          <p:nvPr>
            <p:ph type="sldNum" sz="quarter" idx="11"/>
          </p:nvPr>
        </p:nvSpPr>
        <p:spPr>
          <a:xfrm>
            <a:off x="5740400" y="6400801"/>
            <a:ext cx="711200" cy="365125"/>
          </a:xfrm>
          <a:prstGeom prst="rect">
            <a:avLst/>
          </a:prstGeom>
        </p:spPr>
        <p:txBody>
          <a:bodyPr/>
          <a:lstStyle>
            <a:lvl1pPr>
              <a:defRPr sz="1200">
                <a:solidFill>
                  <a:schemeClr val="bg1"/>
                </a:solidFill>
              </a:defRPr>
            </a:lvl1pPr>
          </a:lstStyle>
          <a:p>
            <a:fld id="{BC5586A0-C3E6-4B60-9429-234BB5256C0F}" type="slidenum">
              <a:rPr lang="en-US" smtClean="0"/>
              <a:pPr/>
              <a:t>‹#›</a:t>
            </a:fld>
            <a:endParaRPr lang="en-US" dirty="0"/>
          </a:p>
        </p:txBody>
      </p:sp>
    </p:spTree>
    <p:extLst>
      <p:ext uri="{BB962C8B-B14F-4D97-AF65-F5344CB8AC3E}">
        <p14:creationId xmlns:p14="http://schemas.microsoft.com/office/powerpoint/2010/main" val="1903569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74084" y="5943603"/>
            <a:ext cx="12340168"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userDrawn="1"/>
        </p:nvSpPr>
        <p:spPr>
          <a:xfrm>
            <a:off x="8026400" y="6345864"/>
            <a:ext cx="4064000" cy="276999"/>
          </a:xfrm>
          <a:prstGeom prst="rect">
            <a:avLst/>
          </a:prstGeom>
          <a:noFill/>
        </p:spPr>
        <p:txBody>
          <a:bodyPr wrap="square" rtlCol="0">
            <a:spAutoFit/>
          </a:bodyPr>
          <a:lstStyle/>
          <a:p>
            <a:r>
              <a:rPr lang="en-US" sz="1200" dirty="0">
                <a:solidFill>
                  <a:schemeClr val="bg1"/>
                </a:solidFill>
              </a:rPr>
              <a:t>Police Department</a:t>
            </a:r>
          </a:p>
        </p:txBody>
      </p:sp>
      <p:pic>
        <p:nvPicPr>
          <p:cNvPr id="6" name="Picture 2" descr="H:\PUBLIC AFFAIRS AND MARKETING\Graphic Designs\City Logo-2017-Sea Turtle\City Of Hollywood FL - Jpegs &amp; PNGs\CO-Hollywood_FL_Logo_WHITE_long.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219937" y="6172200"/>
            <a:ext cx="1997843" cy="624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6570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lvl1pPr algn="ctr" defTabSz="685800" rtl="0" eaLnBrk="1" latinLnBrk="0" hangingPunct="1">
        <a:spcBef>
          <a:spcPct val="0"/>
        </a:spcBef>
        <a:buNone/>
        <a:defRPr lang="en-US" sz="3600" kern="1200" spc="-113"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257175" indent="-257175" algn="l" defTabSz="685800" rtl="0" eaLnBrk="1" latinLnBrk="0" hangingPunct="1">
        <a:spcBef>
          <a:spcPct val="20000"/>
        </a:spcBef>
        <a:buFont typeface="Arial" pitchFamily="34" charset="0"/>
        <a:buChar char="•"/>
        <a:defRPr sz="2400" kern="1200">
          <a:solidFill>
            <a:schemeClr val="bg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bg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bg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bg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bg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lum/>
          </a:blip>
          <a:srcRect/>
          <a:stretch>
            <a:fillRect/>
          </a:stretch>
        </a:blipFill>
        <a:effectLst/>
      </p:bgPr>
    </p:bg>
    <p:spTree>
      <p:nvGrpSpPr>
        <p:cNvPr id="1" name=""/>
        <p:cNvGrpSpPr/>
        <p:nvPr/>
      </p:nvGrpSpPr>
      <p:grpSpPr>
        <a:xfrm>
          <a:off x="0" y="0"/>
          <a:ext cx="0" cy="0"/>
          <a:chOff x="0" y="0"/>
          <a:chExt cx="0" cy="0"/>
        </a:xfrm>
      </p:grpSpPr>
      <p:pic>
        <p:nvPicPr>
          <p:cNvPr id="9" name="Picture 8" descr="SCHOOL'S BACK IN SESSION IN PINELLAS COUNTY: | Russo Pelletier &amp; Sullivan">
            <a:extLst>
              <a:ext uri="{FF2B5EF4-FFF2-40B4-BE49-F238E27FC236}">
                <a16:creationId xmlns:a16="http://schemas.microsoft.com/office/drawing/2014/main" id="{1760AA9C-B148-0353-BAC7-BCE7ADAF1A9A}"/>
              </a:ext>
            </a:extLst>
          </p:cNvPr>
          <p:cNvPicPr>
            <a:picLocks noChangeAspect="1" noChangeArrowheads="1"/>
          </p:cNvPicPr>
          <p:nvPr/>
        </p:nvPicPr>
        <p:blipFill rotWithShape="1">
          <a:blip r:embed="rId4">
            <a:alphaModFix amt="40000"/>
            <a:extLst>
              <a:ext uri="{28A0092B-C50C-407E-A947-70E740481C1C}">
                <a14:useLocalDpi xmlns:a14="http://schemas.microsoft.com/office/drawing/2010/main" val="0"/>
              </a:ext>
            </a:extLst>
          </a:blip>
          <a:srcRect t="1566" b="13848"/>
          <a:stretch/>
        </p:blipFill>
        <p:spPr bwMode="auto">
          <a:xfrm>
            <a:off x="0" y="-208711"/>
            <a:ext cx="12192000" cy="6221885"/>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7">
            <a:extLst>
              <a:ext uri="{FF2B5EF4-FFF2-40B4-BE49-F238E27FC236}">
                <a16:creationId xmlns:a16="http://schemas.microsoft.com/office/drawing/2014/main" id="{8EFC8B7F-80ED-3A5F-6679-53087B78C769}"/>
              </a:ext>
            </a:extLst>
          </p:cNvPr>
          <p:cNvSpPr>
            <a:spLocks noGrp="1"/>
          </p:cNvSpPr>
          <p:nvPr>
            <p:ph type="ctrTitle"/>
          </p:nvPr>
        </p:nvSpPr>
        <p:spPr>
          <a:xfrm>
            <a:off x="261668" y="697302"/>
            <a:ext cx="7188200" cy="4444041"/>
          </a:xfrm>
        </p:spPr>
        <p:txBody>
          <a:bodyPr>
            <a:normAutofit fontScale="90000"/>
          </a:bodyPr>
          <a:lstStyle/>
          <a:p>
            <a:pPr>
              <a:lnSpc>
                <a:spcPct val="90000"/>
              </a:lnSpc>
            </a:pPr>
            <a:r>
              <a:rPr lang="en-US" sz="5600" dirty="0">
                <a:solidFill>
                  <a:schemeClr val="tx1"/>
                </a:solidFill>
                <a:latin typeface="Arial" panose="020B0604020202020204" pitchFamily="34" charset="0"/>
                <a:cs typeface="Arial" panose="020B0604020202020204" pitchFamily="34" charset="0"/>
              </a:rPr>
              <a:t>City of Hollywood</a:t>
            </a:r>
            <a:br>
              <a:rPr lang="en-US" sz="5600" dirty="0">
                <a:solidFill>
                  <a:schemeClr val="tx1"/>
                </a:solidFill>
                <a:latin typeface="Arial" panose="020B0604020202020204" pitchFamily="34" charset="0"/>
                <a:cs typeface="Arial" panose="020B0604020202020204" pitchFamily="34" charset="0"/>
              </a:rPr>
            </a:br>
            <a:br>
              <a:rPr lang="en-US" sz="5600" dirty="0">
                <a:solidFill>
                  <a:schemeClr val="tx1"/>
                </a:solidFill>
                <a:latin typeface="Arial" panose="020B0604020202020204" pitchFamily="34" charset="0"/>
                <a:cs typeface="Arial" panose="020B0604020202020204" pitchFamily="34" charset="0"/>
              </a:rPr>
            </a:br>
            <a:r>
              <a:rPr lang="en-US" sz="5600" dirty="0">
                <a:solidFill>
                  <a:schemeClr val="tx1"/>
                </a:solidFill>
                <a:latin typeface="Arial" panose="020B0604020202020204" pitchFamily="34" charset="0"/>
                <a:cs typeface="Arial" panose="020B0604020202020204" pitchFamily="34" charset="0"/>
              </a:rPr>
              <a:t>Speed Zone Camera Enforcement Program </a:t>
            </a:r>
            <a:br>
              <a:rPr lang="en-US" sz="5600" dirty="0">
                <a:solidFill>
                  <a:schemeClr val="tx1"/>
                </a:solidFill>
                <a:latin typeface="Arial" panose="020B0604020202020204" pitchFamily="34" charset="0"/>
                <a:cs typeface="Arial" panose="020B0604020202020204" pitchFamily="34" charset="0"/>
              </a:rPr>
            </a:br>
            <a:br>
              <a:rPr lang="en-US" sz="5600" dirty="0">
                <a:solidFill>
                  <a:schemeClr val="tx1"/>
                </a:solidFill>
                <a:latin typeface="Arial" panose="020B0604020202020204" pitchFamily="34" charset="0"/>
                <a:cs typeface="Arial" panose="020B0604020202020204" pitchFamily="34" charset="0"/>
              </a:rPr>
            </a:br>
            <a:r>
              <a:rPr lang="en-US" sz="5600" dirty="0">
                <a:solidFill>
                  <a:schemeClr val="tx1"/>
                </a:solidFill>
                <a:latin typeface="Arial" panose="020B0604020202020204" pitchFamily="34" charset="0"/>
                <a:cs typeface="Arial" panose="020B0604020202020204" pitchFamily="34" charset="0"/>
              </a:rPr>
              <a:t>Annual Reporting</a:t>
            </a:r>
            <a:br>
              <a:rPr lang="en-US" sz="5600" dirty="0">
                <a:solidFill>
                  <a:schemeClr val="tx1"/>
                </a:solidFill>
                <a:latin typeface="Arial" panose="020B0604020202020204" pitchFamily="34" charset="0"/>
                <a:cs typeface="Arial" panose="020B0604020202020204" pitchFamily="34" charset="0"/>
              </a:rPr>
            </a:br>
            <a:r>
              <a:rPr lang="en-US" sz="4400" dirty="0">
                <a:solidFill>
                  <a:schemeClr val="tx1"/>
                </a:solidFill>
                <a:latin typeface="Arial" panose="020B0604020202020204" pitchFamily="34" charset="0"/>
                <a:cs typeface="Arial" panose="020B0604020202020204" pitchFamily="34" charset="0"/>
              </a:rPr>
              <a:t>October 22, 2025</a:t>
            </a:r>
            <a:endParaRPr lang="en-US" sz="5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3865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77982-C757-0E31-E3E4-8BBBCAD3E2D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4CAED28-E9A8-B0E3-A4BC-A9B30EDEF2A0}"/>
              </a:ext>
            </a:extLst>
          </p:cNvPr>
          <p:cNvSpPr>
            <a:spLocks noGrp="1"/>
          </p:cNvSpPr>
          <p:nvPr>
            <p:ph type="sldNum" sz="quarter" idx="11"/>
          </p:nvPr>
        </p:nvSpPr>
        <p:spPr/>
        <p:txBody>
          <a:bodyPr/>
          <a:lstStyle/>
          <a:p>
            <a:fld id="{BC5586A0-C3E6-4B60-9429-234BB5256C0F}" type="slidenum">
              <a:rPr lang="en-US" smtClean="0"/>
              <a:pPr/>
              <a:t>2</a:t>
            </a:fld>
            <a:endParaRPr lang="en-US" dirty="0"/>
          </a:p>
        </p:txBody>
      </p:sp>
      <p:sp>
        <p:nvSpPr>
          <p:cNvPr id="9" name="Title 8">
            <a:extLst>
              <a:ext uri="{FF2B5EF4-FFF2-40B4-BE49-F238E27FC236}">
                <a16:creationId xmlns:a16="http://schemas.microsoft.com/office/drawing/2014/main" id="{4295BC0A-D39F-2120-2BB1-25333C2E2606}"/>
              </a:ext>
            </a:extLst>
          </p:cNvPr>
          <p:cNvSpPr>
            <a:spLocks noGrp="1"/>
          </p:cNvSpPr>
          <p:nvPr>
            <p:ph type="title"/>
          </p:nvPr>
        </p:nvSpPr>
        <p:spPr>
          <a:xfrm>
            <a:off x="609600" y="274638"/>
            <a:ext cx="10972800" cy="639762"/>
          </a:xfrm>
        </p:spPr>
        <p:txBody>
          <a:bodyPr/>
          <a:lstStyle/>
          <a:p>
            <a:r>
              <a:rPr lang="en-US" dirty="0"/>
              <a:t>Speed Cameras in Hollywood </a:t>
            </a:r>
          </a:p>
        </p:txBody>
      </p:sp>
      <p:graphicFrame>
        <p:nvGraphicFramePr>
          <p:cNvPr id="2" name="Table 1">
            <a:extLst>
              <a:ext uri="{FF2B5EF4-FFF2-40B4-BE49-F238E27FC236}">
                <a16:creationId xmlns:a16="http://schemas.microsoft.com/office/drawing/2014/main" id="{4323E62D-0E2B-6D4C-C92C-135EDDF05047}"/>
              </a:ext>
            </a:extLst>
          </p:cNvPr>
          <p:cNvGraphicFramePr>
            <a:graphicFrameLocks noGrp="1"/>
          </p:cNvGraphicFramePr>
          <p:nvPr>
            <p:extLst>
              <p:ext uri="{D42A27DB-BD31-4B8C-83A1-F6EECF244321}">
                <p14:modId xmlns:p14="http://schemas.microsoft.com/office/powerpoint/2010/main" val="2652545699"/>
              </p:ext>
            </p:extLst>
          </p:nvPr>
        </p:nvGraphicFramePr>
        <p:xfrm>
          <a:off x="586115" y="1009291"/>
          <a:ext cx="10587854" cy="4810125"/>
        </p:xfrm>
        <a:graphic>
          <a:graphicData uri="http://schemas.openxmlformats.org/drawingml/2006/table">
            <a:tbl>
              <a:tblPr firstRow="1" bandRow="1">
                <a:tableStyleId>{7DF18680-E054-41AD-8BC1-D1AEF772440D}</a:tableStyleId>
              </a:tblPr>
              <a:tblGrid>
                <a:gridCol w="2257669">
                  <a:extLst>
                    <a:ext uri="{9D8B030D-6E8A-4147-A177-3AD203B41FA5}">
                      <a16:colId xmlns:a16="http://schemas.microsoft.com/office/drawing/2014/main" val="2111808596"/>
                    </a:ext>
                  </a:extLst>
                </a:gridCol>
                <a:gridCol w="8330185">
                  <a:extLst>
                    <a:ext uri="{9D8B030D-6E8A-4147-A177-3AD203B41FA5}">
                      <a16:colId xmlns:a16="http://schemas.microsoft.com/office/drawing/2014/main" val="2695652351"/>
                    </a:ext>
                  </a:extLst>
                </a:gridCol>
              </a:tblGrid>
              <a:tr h="284671">
                <a:tc gridSpan="2">
                  <a:txBody>
                    <a:bodyPr/>
                    <a:lstStyle/>
                    <a:p>
                      <a:pPr algn="ctr"/>
                      <a:r>
                        <a:rPr lang="en-US" sz="1600" dirty="0"/>
                        <a:t>Timeline of the Speed Camera Program</a:t>
                      </a:r>
                    </a:p>
                  </a:txBody>
                  <a:tcPr/>
                </a:tc>
                <a:tc hMerge="1">
                  <a:txBody>
                    <a:bodyPr/>
                    <a:lstStyle/>
                    <a:p>
                      <a:pPr algn="ctr"/>
                      <a:endParaRPr lang="en-US" sz="1600" dirty="0"/>
                    </a:p>
                  </a:txBody>
                  <a:tcPr/>
                </a:tc>
                <a:extLst>
                  <a:ext uri="{0D108BD9-81ED-4DB2-BD59-A6C34878D82A}">
                    <a16:rowId xmlns:a16="http://schemas.microsoft.com/office/drawing/2014/main" val="2182406195"/>
                  </a:ext>
                </a:extLst>
              </a:tr>
              <a:tr h="497205">
                <a:tc>
                  <a:txBody>
                    <a:bodyPr/>
                    <a:lstStyle/>
                    <a:p>
                      <a:pPr algn="ctr" defTabSz="685800">
                        <a:spcBef>
                          <a:spcPct val="20000"/>
                        </a:spcBef>
                      </a:pPr>
                      <a:r>
                        <a:rPr lang="en-US" sz="1600" dirty="0">
                          <a:solidFill>
                            <a:schemeClr val="tx1">
                              <a:lumMod val="75000"/>
                              <a:lumOff val="25000"/>
                            </a:schemeClr>
                          </a:solidFill>
                          <a:latin typeface="Franklin Gothic Book" pitchFamily="34" charset="0"/>
                        </a:rPr>
                        <a:t>Summer 2023</a:t>
                      </a:r>
                      <a:endParaRPr lang="en-US"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1600" dirty="0">
                          <a:solidFill>
                            <a:schemeClr val="tx1">
                              <a:lumMod val="75000"/>
                              <a:lumOff val="25000"/>
                            </a:schemeClr>
                          </a:solidFill>
                          <a:latin typeface="Franklin Gothic Book" pitchFamily="34" charset="0"/>
                        </a:rPr>
                        <a:t>State of Florida passed legislation allowing Speed Camera systems in School Zones</a:t>
                      </a:r>
                    </a:p>
                  </a:txBody>
                  <a:tcPr marL="9525" marR="9525" marT="9525" marB="0" anchor="ctr"/>
                </a:tc>
                <a:extLst>
                  <a:ext uri="{0D108BD9-81ED-4DB2-BD59-A6C34878D82A}">
                    <a16:rowId xmlns:a16="http://schemas.microsoft.com/office/drawing/2014/main" val="848427821"/>
                  </a:ext>
                </a:extLst>
              </a:tr>
              <a:tr h="497205">
                <a:tc>
                  <a:txBody>
                    <a:bodyPr/>
                    <a:lstStyle/>
                    <a:p>
                      <a:pPr algn="ctr" defTabSz="685800">
                        <a:spcBef>
                          <a:spcPct val="20000"/>
                        </a:spcBef>
                      </a:pPr>
                      <a:r>
                        <a:rPr lang="en-US" sz="1600" dirty="0">
                          <a:solidFill>
                            <a:schemeClr val="tx1">
                              <a:lumMod val="75000"/>
                              <a:lumOff val="25000"/>
                            </a:schemeClr>
                          </a:solidFill>
                          <a:latin typeface="Franklin Gothic Book" pitchFamily="34" charset="0"/>
                        </a:rPr>
                        <a:t>April 2024</a:t>
                      </a:r>
                      <a:endParaRPr lang="en-US"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1600" dirty="0">
                          <a:solidFill>
                            <a:schemeClr val="tx1">
                              <a:lumMod val="75000"/>
                              <a:lumOff val="25000"/>
                            </a:schemeClr>
                          </a:solidFill>
                          <a:latin typeface="Franklin Gothic Book" pitchFamily="34" charset="0"/>
                        </a:rPr>
                        <a:t>City Commission passed the ordinance to enact School Speed Zone program</a:t>
                      </a:r>
                    </a:p>
                  </a:txBody>
                  <a:tcPr marL="9525" marR="9525" marT="9525" marB="0" anchor="ctr"/>
                </a:tc>
                <a:extLst>
                  <a:ext uri="{0D108BD9-81ED-4DB2-BD59-A6C34878D82A}">
                    <a16:rowId xmlns:a16="http://schemas.microsoft.com/office/drawing/2014/main" val="848995358"/>
                  </a:ext>
                </a:extLst>
              </a:tr>
              <a:tr h="497205">
                <a:tc>
                  <a:txBody>
                    <a:bodyPr/>
                    <a:lstStyle/>
                    <a:p>
                      <a:pPr algn="ctr" defTabSz="685800">
                        <a:spcBef>
                          <a:spcPct val="20000"/>
                        </a:spcBef>
                      </a:pPr>
                      <a:r>
                        <a:rPr lang="en-US" sz="1600" dirty="0">
                          <a:solidFill>
                            <a:schemeClr val="tx1">
                              <a:lumMod val="75000"/>
                              <a:lumOff val="25000"/>
                            </a:schemeClr>
                          </a:solidFill>
                          <a:latin typeface="Franklin Gothic Book" pitchFamily="34" charset="0"/>
                        </a:rPr>
                        <a:t>May 2024</a:t>
                      </a:r>
                    </a:p>
                  </a:txBody>
                  <a:tcPr marL="9525" marR="9525" marT="9525" marB="0" anchor="ctr"/>
                </a:tc>
                <a:tc>
                  <a:txBody>
                    <a:bodyPr/>
                    <a:lstStyle/>
                    <a:p>
                      <a:pPr algn="l" fontAlgn="b"/>
                      <a:r>
                        <a:rPr lang="en-US" sz="1600" dirty="0">
                          <a:solidFill>
                            <a:schemeClr val="tx1">
                              <a:lumMod val="75000"/>
                              <a:lumOff val="25000"/>
                            </a:schemeClr>
                          </a:solidFill>
                          <a:latin typeface="Franklin Gothic Book" pitchFamily="34" charset="0"/>
                        </a:rPr>
                        <a:t>City Commission approval of an agreement with Blue Line Solutions to implement a citywide School Speed Zone Program</a:t>
                      </a:r>
                      <a:endParaRPr lang="en-US" sz="16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775738680"/>
                  </a:ext>
                </a:extLst>
              </a:tr>
              <a:tr h="497205">
                <a:tc>
                  <a:txBody>
                    <a:bodyPr/>
                    <a:lstStyle/>
                    <a:p>
                      <a:pPr algn="ctr" defTabSz="685800">
                        <a:spcBef>
                          <a:spcPct val="20000"/>
                        </a:spcBef>
                      </a:pPr>
                      <a:r>
                        <a:rPr lang="en-US" sz="1600" dirty="0">
                          <a:solidFill>
                            <a:schemeClr val="tx1">
                              <a:lumMod val="75000"/>
                              <a:lumOff val="25000"/>
                            </a:schemeClr>
                          </a:solidFill>
                          <a:latin typeface="Franklin Gothic Book" pitchFamily="34" charset="0"/>
                        </a:rPr>
                        <a:t>Summer 2024</a:t>
                      </a:r>
                    </a:p>
                  </a:txBody>
                  <a:tcPr marL="9525" marR="9525" marT="9525" marB="0" anchor="ctr"/>
                </a:tc>
                <a:tc>
                  <a:txBody>
                    <a:bodyPr/>
                    <a:lstStyle/>
                    <a:p>
                      <a:pPr algn="l" fontAlgn="b"/>
                      <a:r>
                        <a:rPr lang="en-US" sz="1600" dirty="0">
                          <a:solidFill>
                            <a:schemeClr val="tx1">
                              <a:lumMod val="75000"/>
                              <a:lumOff val="25000"/>
                            </a:schemeClr>
                          </a:solidFill>
                          <a:latin typeface="Franklin Gothic Book" pitchFamily="34" charset="0"/>
                        </a:rPr>
                        <a:t>Planning, permitting, and construction of locations Citywide</a:t>
                      </a:r>
                      <a:endParaRPr lang="en-US" sz="16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4048461097"/>
                  </a:ext>
                </a:extLst>
              </a:tr>
              <a:tr h="497205">
                <a:tc>
                  <a:txBody>
                    <a:bodyPr/>
                    <a:lstStyle/>
                    <a:p>
                      <a:pPr algn="ctr" defTabSz="685800">
                        <a:spcBef>
                          <a:spcPct val="20000"/>
                        </a:spcBef>
                      </a:pPr>
                      <a:r>
                        <a:rPr lang="en-US" sz="1600" dirty="0">
                          <a:solidFill>
                            <a:schemeClr val="tx1">
                              <a:lumMod val="75000"/>
                              <a:lumOff val="25000"/>
                            </a:schemeClr>
                          </a:solidFill>
                          <a:latin typeface="Franklin Gothic Book" pitchFamily="34" charset="0"/>
                        </a:rPr>
                        <a:t>September 2024</a:t>
                      </a:r>
                      <a:endParaRPr lang="en-US"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1600" dirty="0">
                          <a:solidFill>
                            <a:schemeClr val="tx1">
                              <a:lumMod val="75000"/>
                              <a:lumOff val="25000"/>
                            </a:schemeClr>
                          </a:solidFill>
                          <a:latin typeface="Franklin Gothic Book" pitchFamily="34" charset="0"/>
                        </a:rPr>
                        <a:t>Locations on local roadways began operating by issuing Warning Notices and Notices of Violations (NOV)</a:t>
                      </a:r>
                    </a:p>
                  </a:txBody>
                  <a:tcPr marL="9525" marR="9525" marT="9525" marB="0" anchor="ctr"/>
                </a:tc>
                <a:extLst>
                  <a:ext uri="{0D108BD9-81ED-4DB2-BD59-A6C34878D82A}">
                    <a16:rowId xmlns:a16="http://schemas.microsoft.com/office/drawing/2014/main" val="274722614"/>
                  </a:ext>
                </a:extLst>
              </a:tr>
              <a:tr h="497205">
                <a:tc>
                  <a:txBody>
                    <a:bodyPr/>
                    <a:lstStyle/>
                    <a:p>
                      <a:pPr algn="ctr" defTabSz="685800">
                        <a:spcBef>
                          <a:spcPct val="20000"/>
                        </a:spcBef>
                      </a:pPr>
                      <a:r>
                        <a:rPr lang="en-US" sz="1600" dirty="0">
                          <a:solidFill>
                            <a:schemeClr val="tx1">
                              <a:lumMod val="75000"/>
                              <a:lumOff val="25000"/>
                            </a:schemeClr>
                          </a:solidFill>
                          <a:latin typeface="Franklin Gothic Book" pitchFamily="34" charset="0"/>
                        </a:rPr>
                        <a:t>January 2025</a:t>
                      </a:r>
                      <a:endParaRPr lang="en-US"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1600" dirty="0">
                          <a:solidFill>
                            <a:schemeClr val="tx1">
                              <a:lumMod val="75000"/>
                              <a:lumOff val="25000"/>
                            </a:schemeClr>
                          </a:solidFill>
                          <a:latin typeface="Franklin Gothic Book" pitchFamily="34" charset="0"/>
                        </a:rPr>
                        <a:t>First local City Magistrate Court hearing for NOVs</a:t>
                      </a:r>
                    </a:p>
                  </a:txBody>
                  <a:tcPr marL="9525" marR="9525" marT="9525" marB="0" anchor="ctr"/>
                </a:tc>
                <a:extLst>
                  <a:ext uri="{0D108BD9-81ED-4DB2-BD59-A6C34878D82A}">
                    <a16:rowId xmlns:a16="http://schemas.microsoft.com/office/drawing/2014/main" val="1889293879"/>
                  </a:ext>
                </a:extLst>
              </a:tr>
              <a:tr h="497205">
                <a:tc>
                  <a:txBody>
                    <a:bodyPr/>
                    <a:lstStyle/>
                    <a:p>
                      <a:pPr algn="ctr" defTabSz="685800">
                        <a:spcBef>
                          <a:spcPct val="20000"/>
                        </a:spcBef>
                      </a:pPr>
                      <a:r>
                        <a:rPr lang="en-US" sz="1600" dirty="0">
                          <a:solidFill>
                            <a:schemeClr val="tx1">
                              <a:lumMod val="75000"/>
                              <a:lumOff val="25000"/>
                            </a:schemeClr>
                          </a:solidFill>
                          <a:latin typeface="Franklin Gothic Book" pitchFamily="34" charset="0"/>
                        </a:rPr>
                        <a:t>March 2025</a:t>
                      </a:r>
                    </a:p>
                  </a:txBody>
                  <a:tcPr marL="9525" marR="9525" marT="9525" marB="0" anchor="ctr"/>
                </a:tc>
                <a:tc>
                  <a:txBody>
                    <a:bodyPr/>
                    <a:lstStyle/>
                    <a:p>
                      <a:pPr algn="l" fontAlgn="b"/>
                      <a:r>
                        <a:rPr lang="en-US" sz="1600" dirty="0">
                          <a:solidFill>
                            <a:schemeClr val="tx1">
                              <a:lumMod val="75000"/>
                              <a:lumOff val="25000"/>
                            </a:schemeClr>
                          </a:solidFill>
                          <a:latin typeface="Franklin Gothic Book" pitchFamily="34" charset="0"/>
                        </a:rPr>
                        <a:t>Began issuing UTCs for NOVs that have not been paid</a:t>
                      </a:r>
                      <a:endParaRPr lang="en-US" sz="16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632680359"/>
                  </a:ext>
                </a:extLst>
              </a:tr>
              <a:tr h="497205">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600" dirty="0">
                          <a:solidFill>
                            <a:schemeClr val="tx1">
                              <a:lumMod val="75000"/>
                              <a:lumOff val="25000"/>
                            </a:schemeClr>
                          </a:solidFill>
                          <a:latin typeface="Franklin Gothic Book" pitchFamily="34" charset="0"/>
                        </a:rPr>
                        <a:t>September 2025</a:t>
                      </a:r>
                      <a:endParaRPr lang="en-US"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1600" dirty="0">
                          <a:solidFill>
                            <a:schemeClr val="tx1">
                              <a:lumMod val="75000"/>
                              <a:lumOff val="25000"/>
                            </a:schemeClr>
                          </a:solidFill>
                          <a:latin typeface="Franklin Gothic Book" pitchFamily="34" charset="0"/>
                        </a:rPr>
                        <a:t>The first School Zone locations on state and county roads began warning notices</a:t>
                      </a:r>
                    </a:p>
                  </a:txBody>
                  <a:tcPr marL="9525" marR="9525" marT="9525" marB="0" anchor="ctr"/>
                </a:tc>
                <a:extLst>
                  <a:ext uri="{0D108BD9-81ED-4DB2-BD59-A6C34878D82A}">
                    <a16:rowId xmlns:a16="http://schemas.microsoft.com/office/drawing/2014/main" val="2301856099"/>
                  </a:ext>
                </a:extLst>
              </a:tr>
              <a:tr h="497205">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1600" kern="1200" dirty="0">
                          <a:solidFill>
                            <a:schemeClr val="tx1">
                              <a:lumMod val="75000"/>
                              <a:lumOff val="25000"/>
                            </a:schemeClr>
                          </a:solidFill>
                          <a:latin typeface="Franklin Gothic Book" pitchFamily="34" charset="0"/>
                          <a:ea typeface="+mn-ea"/>
                          <a:cs typeface="+mn-cs"/>
                        </a:rPr>
                        <a:t>October 2025</a:t>
                      </a:r>
                    </a:p>
                  </a:txBody>
                  <a:tcPr marL="9525" marR="9525" marT="9525" marB="0" anchor="ct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1600" dirty="0">
                          <a:solidFill>
                            <a:schemeClr val="tx1">
                              <a:lumMod val="75000"/>
                              <a:lumOff val="25000"/>
                            </a:schemeClr>
                          </a:solidFill>
                          <a:latin typeface="Franklin Gothic Book" pitchFamily="34" charset="0"/>
                        </a:rPr>
                        <a:t>There are currently 18 locations live and implementation continues for State and County roads</a:t>
                      </a:r>
                    </a:p>
                  </a:txBody>
                  <a:tcPr marL="9525" marR="9525" marT="9525" marB="0" anchor="ctr"/>
                </a:tc>
                <a:extLst>
                  <a:ext uri="{0D108BD9-81ED-4DB2-BD59-A6C34878D82A}">
                    <a16:rowId xmlns:a16="http://schemas.microsoft.com/office/drawing/2014/main" val="1298895557"/>
                  </a:ext>
                </a:extLst>
              </a:tr>
            </a:tbl>
          </a:graphicData>
        </a:graphic>
      </p:graphicFrame>
    </p:spTree>
    <p:extLst>
      <p:ext uri="{BB962C8B-B14F-4D97-AF65-F5344CB8AC3E}">
        <p14:creationId xmlns:p14="http://schemas.microsoft.com/office/powerpoint/2010/main" val="1666807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D569C-2A5F-EC9E-8D70-4E688D82B85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F9DED3-0868-C948-7E48-19011EC411D6}"/>
              </a:ext>
            </a:extLst>
          </p:cNvPr>
          <p:cNvSpPr>
            <a:spLocks noGrp="1"/>
          </p:cNvSpPr>
          <p:nvPr>
            <p:ph type="sldNum" sz="quarter" idx="11"/>
          </p:nvPr>
        </p:nvSpPr>
        <p:spPr/>
        <p:txBody>
          <a:bodyPr/>
          <a:lstStyle/>
          <a:p>
            <a:fld id="{BC5586A0-C3E6-4B60-9429-234BB5256C0F}" type="slidenum">
              <a:rPr lang="en-US" smtClean="0"/>
              <a:pPr/>
              <a:t>3</a:t>
            </a:fld>
            <a:endParaRPr lang="en-US" dirty="0"/>
          </a:p>
        </p:txBody>
      </p:sp>
      <p:sp>
        <p:nvSpPr>
          <p:cNvPr id="9" name="Title 8">
            <a:extLst>
              <a:ext uri="{FF2B5EF4-FFF2-40B4-BE49-F238E27FC236}">
                <a16:creationId xmlns:a16="http://schemas.microsoft.com/office/drawing/2014/main" id="{7A2455D8-4E0E-482A-C06C-FCD29920F0D2}"/>
              </a:ext>
            </a:extLst>
          </p:cNvPr>
          <p:cNvSpPr>
            <a:spLocks noGrp="1"/>
          </p:cNvSpPr>
          <p:nvPr>
            <p:ph type="title"/>
          </p:nvPr>
        </p:nvSpPr>
        <p:spPr>
          <a:xfrm>
            <a:off x="609600" y="274638"/>
            <a:ext cx="10972800" cy="639762"/>
          </a:xfrm>
        </p:spPr>
        <p:txBody>
          <a:bodyPr/>
          <a:lstStyle/>
          <a:p>
            <a:r>
              <a:rPr lang="en-US" dirty="0"/>
              <a:t>Speed Cameras in Hollywood </a:t>
            </a:r>
          </a:p>
        </p:txBody>
      </p:sp>
      <p:graphicFrame>
        <p:nvGraphicFramePr>
          <p:cNvPr id="2" name="Table 1">
            <a:extLst>
              <a:ext uri="{FF2B5EF4-FFF2-40B4-BE49-F238E27FC236}">
                <a16:creationId xmlns:a16="http://schemas.microsoft.com/office/drawing/2014/main" id="{FBA5ADBC-F0CE-4ABB-1EEE-413B4204F990}"/>
              </a:ext>
            </a:extLst>
          </p:cNvPr>
          <p:cNvGraphicFramePr>
            <a:graphicFrameLocks noGrp="1"/>
          </p:cNvGraphicFramePr>
          <p:nvPr/>
        </p:nvGraphicFramePr>
        <p:xfrm>
          <a:off x="586115" y="1009291"/>
          <a:ext cx="10996285" cy="3810440"/>
        </p:xfrm>
        <a:graphic>
          <a:graphicData uri="http://schemas.openxmlformats.org/drawingml/2006/table">
            <a:tbl>
              <a:tblPr firstRow="1" bandRow="1">
                <a:tableStyleId>{7DF18680-E054-41AD-8BC1-D1AEF772440D}</a:tableStyleId>
              </a:tblPr>
              <a:tblGrid>
                <a:gridCol w="2389998">
                  <a:extLst>
                    <a:ext uri="{9D8B030D-6E8A-4147-A177-3AD203B41FA5}">
                      <a16:colId xmlns:a16="http://schemas.microsoft.com/office/drawing/2014/main" val="2111808596"/>
                    </a:ext>
                  </a:extLst>
                </a:gridCol>
                <a:gridCol w="1250830">
                  <a:extLst>
                    <a:ext uri="{9D8B030D-6E8A-4147-A177-3AD203B41FA5}">
                      <a16:colId xmlns:a16="http://schemas.microsoft.com/office/drawing/2014/main" val="1407353396"/>
                    </a:ext>
                  </a:extLst>
                </a:gridCol>
                <a:gridCol w="500332">
                  <a:extLst>
                    <a:ext uri="{9D8B030D-6E8A-4147-A177-3AD203B41FA5}">
                      <a16:colId xmlns:a16="http://schemas.microsoft.com/office/drawing/2014/main" val="3894658078"/>
                    </a:ext>
                  </a:extLst>
                </a:gridCol>
                <a:gridCol w="3269412">
                  <a:extLst>
                    <a:ext uri="{9D8B030D-6E8A-4147-A177-3AD203B41FA5}">
                      <a16:colId xmlns:a16="http://schemas.microsoft.com/office/drawing/2014/main" val="1863451845"/>
                    </a:ext>
                  </a:extLst>
                </a:gridCol>
                <a:gridCol w="379562">
                  <a:extLst>
                    <a:ext uri="{9D8B030D-6E8A-4147-A177-3AD203B41FA5}">
                      <a16:colId xmlns:a16="http://schemas.microsoft.com/office/drawing/2014/main" val="1168114660"/>
                    </a:ext>
                  </a:extLst>
                </a:gridCol>
                <a:gridCol w="431321">
                  <a:extLst>
                    <a:ext uri="{9D8B030D-6E8A-4147-A177-3AD203B41FA5}">
                      <a16:colId xmlns:a16="http://schemas.microsoft.com/office/drawing/2014/main" val="3018529306"/>
                    </a:ext>
                  </a:extLst>
                </a:gridCol>
                <a:gridCol w="785004">
                  <a:extLst>
                    <a:ext uri="{9D8B030D-6E8A-4147-A177-3AD203B41FA5}">
                      <a16:colId xmlns:a16="http://schemas.microsoft.com/office/drawing/2014/main" val="2798346557"/>
                    </a:ext>
                  </a:extLst>
                </a:gridCol>
                <a:gridCol w="629728">
                  <a:extLst>
                    <a:ext uri="{9D8B030D-6E8A-4147-A177-3AD203B41FA5}">
                      <a16:colId xmlns:a16="http://schemas.microsoft.com/office/drawing/2014/main" val="259379407"/>
                    </a:ext>
                  </a:extLst>
                </a:gridCol>
                <a:gridCol w="707366">
                  <a:extLst>
                    <a:ext uri="{9D8B030D-6E8A-4147-A177-3AD203B41FA5}">
                      <a16:colId xmlns:a16="http://schemas.microsoft.com/office/drawing/2014/main" val="1612257702"/>
                    </a:ext>
                  </a:extLst>
                </a:gridCol>
                <a:gridCol w="652732">
                  <a:extLst>
                    <a:ext uri="{9D8B030D-6E8A-4147-A177-3AD203B41FA5}">
                      <a16:colId xmlns:a16="http://schemas.microsoft.com/office/drawing/2014/main" val="502454813"/>
                    </a:ext>
                  </a:extLst>
                </a:gridCol>
              </a:tblGrid>
              <a:tr h="284671">
                <a:tc>
                  <a:txBody>
                    <a:bodyPr/>
                    <a:lstStyle/>
                    <a:p>
                      <a:pPr algn="ctr"/>
                      <a:r>
                        <a:rPr lang="en-US" sz="1200" dirty="0"/>
                        <a:t>School Name</a:t>
                      </a:r>
                    </a:p>
                  </a:txBody>
                  <a:tcPr/>
                </a:tc>
                <a:tc>
                  <a:txBody>
                    <a:bodyPr/>
                    <a:lstStyle/>
                    <a:p>
                      <a:pPr algn="ctr"/>
                      <a:r>
                        <a:rPr lang="en-US" sz="1200" dirty="0"/>
                        <a:t>Level</a:t>
                      </a:r>
                    </a:p>
                  </a:txBody>
                  <a:tcPr/>
                </a:tc>
                <a:tc>
                  <a:txBody>
                    <a:bodyPr/>
                    <a:lstStyle/>
                    <a:p>
                      <a:pPr algn="ctr"/>
                      <a:r>
                        <a:rPr lang="en-US" sz="1200" dirty="0"/>
                        <a:t>Dir</a:t>
                      </a:r>
                    </a:p>
                  </a:txBody>
                  <a:tcPr/>
                </a:tc>
                <a:tc>
                  <a:txBody>
                    <a:bodyPr/>
                    <a:lstStyle/>
                    <a:p>
                      <a:pPr algn="ctr"/>
                      <a:r>
                        <a:rPr lang="en-US" sz="1200" dirty="0"/>
                        <a:t>Enforcement Times</a:t>
                      </a:r>
                    </a:p>
                  </a:txBody>
                  <a:tcPr/>
                </a:tc>
                <a:tc>
                  <a:txBody>
                    <a:bodyPr/>
                    <a:lstStyle/>
                    <a:p>
                      <a:pPr algn="ctr"/>
                      <a:r>
                        <a:rPr lang="en-US" sz="1200" dirty="0"/>
                        <a:t>S</a:t>
                      </a:r>
                    </a:p>
                  </a:txBody>
                  <a:tcPr/>
                </a:tc>
                <a:tc>
                  <a:txBody>
                    <a:bodyPr/>
                    <a:lstStyle/>
                    <a:p>
                      <a:pPr algn="ctr"/>
                      <a:r>
                        <a:rPr lang="en-US" sz="1200" dirty="0"/>
                        <a:t>N</a:t>
                      </a:r>
                    </a:p>
                  </a:txBody>
                  <a:tcPr/>
                </a:tc>
                <a:tc>
                  <a:txBody>
                    <a:bodyPr/>
                    <a:lstStyle/>
                    <a:p>
                      <a:pPr algn="ctr"/>
                      <a:r>
                        <a:rPr lang="en-US" sz="1200" dirty="0"/>
                        <a:t> Active</a:t>
                      </a:r>
                    </a:p>
                  </a:txBody>
                  <a:tcPr/>
                </a:tc>
                <a:tc>
                  <a:txBody>
                    <a:bodyPr/>
                    <a:lstStyle/>
                    <a:p>
                      <a:pPr algn="ctr"/>
                      <a:r>
                        <a:rPr lang="en-US" sz="1200" dirty="0"/>
                        <a:t>Ser#</a:t>
                      </a:r>
                    </a:p>
                  </a:txBody>
                  <a:tcPr/>
                </a:tc>
                <a:tc>
                  <a:txBody>
                    <a:bodyPr/>
                    <a:lstStyle/>
                    <a:p>
                      <a:pPr algn="ctr"/>
                      <a:r>
                        <a:rPr lang="en-US" sz="1200" dirty="0"/>
                        <a:t>Lat</a:t>
                      </a:r>
                    </a:p>
                  </a:txBody>
                  <a:tcPr/>
                </a:tc>
                <a:tc>
                  <a:txBody>
                    <a:bodyPr/>
                    <a:lstStyle/>
                    <a:p>
                      <a:pPr algn="ctr"/>
                      <a:r>
                        <a:rPr lang="en-US" sz="1200" dirty="0"/>
                        <a:t>Long</a:t>
                      </a:r>
                    </a:p>
                  </a:txBody>
                  <a:tcPr/>
                </a:tc>
                <a:extLst>
                  <a:ext uri="{0D108BD9-81ED-4DB2-BD59-A6C34878D82A}">
                    <a16:rowId xmlns:a16="http://schemas.microsoft.com/office/drawing/2014/main" val="2182406195"/>
                  </a:ext>
                </a:extLst>
              </a:tr>
              <a:tr h="156219">
                <a:tc>
                  <a:txBody>
                    <a:bodyPr/>
                    <a:lstStyle/>
                    <a:p>
                      <a:pPr algn="ctr" fontAlgn="b"/>
                      <a:r>
                        <a:rPr lang="en-US" sz="1200" b="0" i="0" u="none" strike="noStrike" dirty="0">
                          <a:solidFill>
                            <a:srgbClr val="000000"/>
                          </a:solidFill>
                          <a:effectLst/>
                          <a:latin typeface="Aptos Narrow" panose="020B0004020202020204" pitchFamily="34" charset="0"/>
                        </a:rPr>
                        <a:t>Apollo MS</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Middle</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East</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9:01am-9:29am, 9:30am-4:00pm, 4:01pm-4:29pm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8/12/2024</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FX1051</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26.02078</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-80.226</a:t>
                      </a:r>
                    </a:p>
                  </a:txBody>
                  <a:tcPr marL="9525" marR="9525" marT="9525" marB="0" anchor="b"/>
                </a:tc>
                <a:extLst>
                  <a:ext uri="{0D108BD9-81ED-4DB2-BD59-A6C34878D82A}">
                    <a16:rowId xmlns:a16="http://schemas.microsoft.com/office/drawing/2014/main" val="848427821"/>
                  </a:ext>
                </a:extLst>
              </a:tr>
              <a:tr h="131076">
                <a:tc>
                  <a:txBody>
                    <a:bodyPr/>
                    <a:lstStyle/>
                    <a:p>
                      <a:pPr algn="ctr" fontAlgn="b"/>
                      <a:r>
                        <a:rPr lang="en-US" sz="1200" b="0" i="0" u="none" strike="noStrike" dirty="0">
                          <a:solidFill>
                            <a:srgbClr val="000000"/>
                          </a:solidFill>
                          <a:effectLst/>
                          <a:latin typeface="Aptos Narrow" panose="020B0004020202020204" pitchFamily="34" charset="0"/>
                        </a:rPr>
                        <a:t>Apollo MS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Middle</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West</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9:01am-9:29am, 9:30am-4:00pm, 4:01pm-4:29pm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8/12/2024</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FX1052</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26.02072</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-80.2213</a:t>
                      </a:r>
                    </a:p>
                  </a:txBody>
                  <a:tcPr marL="9525" marR="9525" marT="9525" marB="0" anchor="b"/>
                </a:tc>
                <a:extLst>
                  <a:ext uri="{0D108BD9-81ED-4DB2-BD59-A6C34878D82A}">
                    <a16:rowId xmlns:a16="http://schemas.microsoft.com/office/drawing/2014/main" val="848995358"/>
                  </a:ext>
                </a:extLst>
              </a:tr>
              <a:tr h="125092">
                <a:tc>
                  <a:txBody>
                    <a:bodyPr/>
                    <a:lstStyle/>
                    <a:p>
                      <a:pPr algn="ctr" fontAlgn="b"/>
                      <a:r>
                        <a:rPr lang="en-US" sz="1200" b="0" i="0" u="none" strike="noStrike" dirty="0">
                          <a:solidFill>
                            <a:srgbClr val="000000"/>
                          </a:solidFill>
                          <a:effectLst/>
                          <a:latin typeface="Aptos Narrow" panose="020B0004020202020204" pitchFamily="34" charset="0"/>
                        </a:rPr>
                        <a:t>Attucks MS/Bethune ES</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Middle/Elementary</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South</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8:26-8:54am, 8:55am-3:25pm, 3:26pm-3:54pm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8/12/2024</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FX1061</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26.04241</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-80.1632</a:t>
                      </a:r>
                    </a:p>
                  </a:txBody>
                  <a:tcPr marL="9525" marR="9525" marT="9525" marB="0" anchor="b"/>
                </a:tc>
                <a:extLst>
                  <a:ext uri="{0D108BD9-81ED-4DB2-BD59-A6C34878D82A}">
                    <a16:rowId xmlns:a16="http://schemas.microsoft.com/office/drawing/2014/main" val="2775738680"/>
                  </a:ext>
                </a:extLst>
              </a:tr>
              <a:tr h="79336">
                <a:tc>
                  <a:txBody>
                    <a:bodyPr/>
                    <a:lstStyle/>
                    <a:p>
                      <a:pPr algn="ctr" fontAlgn="b"/>
                      <a:r>
                        <a:rPr lang="en-US" sz="1200" b="0" i="0" u="none" strike="noStrike" dirty="0">
                          <a:solidFill>
                            <a:srgbClr val="000000"/>
                          </a:solidFill>
                          <a:effectLst/>
                          <a:latin typeface="Aptos Narrow" panose="020B0004020202020204" pitchFamily="34" charset="0"/>
                        </a:rPr>
                        <a:t>Beachside Montessori</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K-8</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North</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8:46am-9:14am, 9:15am-3:45pm, 3:46pm-4:14pm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4/16/2025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FX1140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26.01634</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-80.1546</a:t>
                      </a:r>
                    </a:p>
                  </a:txBody>
                  <a:tcPr marL="9525" marR="9525" marT="9525" marB="0" anchor="b"/>
                </a:tc>
                <a:extLst>
                  <a:ext uri="{0D108BD9-81ED-4DB2-BD59-A6C34878D82A}">
                    <a16:rowId xmlns:a16="http://schemas.microsoft.com/office/drawing/2014/main" val="4048461097"/>
                  </a:ext>
                </a:extLst>
              </a:tr>
              <a:tr h="128471">
                <a:tc>
                  <a:txBody>
                    <a:bodyPr/>
                    <a:lstStyle/>
                    <a:p>
                      <a:pPr algn="ctr" fontAlgn="b"/>
                      <a:r>
                        <a:rPr lang="en-US" sz="1200" b="0" i="0" u="none" strike="noStrike" dirty="0">
                          <a:solidFill>
                            <a:srgbClr val="000000"/>
                          </a:solidFill>
                          <a:effectLst/>
                          <a:latin typeface="Aptos Narrow" panose="020B0004020202020204" pitchFamily="34" charset="0"/>
                        </a:rPr>
                        <a:t>Beachside Montessori</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K-8</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South</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8:46am-9:14am, 9:15am-3:45pm, 3:46pm-4:14pm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4/16/2025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FX1141</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26.01733</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-80.1546</a:t>
                      </a:r>
                    </a:p>
                  </a:txBody>
                  <a:tcPr marL="9525" marR="9525" marT="9525" marB="0" anchor="b"/>
                </a:tc>
                <a:extLst>
                  <a:ext uri="{0D108BD9-81ED-4DB2-BD59-A6C34878D82A}">
                    <a16:rowId xmlns:a16="http://schemas.microsoft.com/office/drawing/2014/main" val="274722614"/>
                  </a:ext>
                </a:extLst>
              </a:tr>
              <a:tr h="91341">
                <a:tc>
                  <a:txBody>
                    <a:bodyPr/>
                    <a:lstStyle/>
                    <a:p>
                      <a:pPr algn="ctr" fontAlgn="b"/>
                      <a:r>
                        <a:rPr lang="en-US" sz="1200" b="0" i="0" u="none" strike="noStrike" dirty="0">
                          <a:solidFill>
                            <a:srgbClr val="000000"/>
                          </a:solidFill>
                          <a:effectLst/>
                          <a:latin typeface="Aptos Narrow" panose="020B0004020202020204" pitchFamily="34" charset="0"/>
                        </a:rPr>
                        <a:t>Ben </a:t>
                      </a:r>
                      <a:r>
                        <a:rPr lang="en-US" sz="1200" b="0" i="0" u="none" strike="noStrike" dirty="0" err="1">
                          <a:solidFill>
                            <a:srgbClr val="000000"/>
                          </a:solidFill>
                          <a:effectLst/>
                          <a:latin typeface="Aptos Narrow" panose="020B0004020202020204" pitchFamily="34" charset="0"/>
                        </a:rPr>
                        <a:t>Gamla</a:t>
                      </a:r>
                      <a:r>
                        <a:rPr lang="en-US" sz="1200" b="0" i="0" u="none" strike="noStrike" dirty="0">
                          <a:solidFill>
                            <a:srgbClr val="000000"/>
                          </a:solidFill>
                          <a:effectLst/>
                          <a:latin typeface="Aptos Narrow" panose="020B0004020202020204" pitchFamily="34" charset="0"/>
                        </a:rPr>
                        <a:t> Charter </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East</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8/27/2024</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FX1085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26.01073</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-80.1614</a:t>
                      </a:r>
                    </a:p>
                  </a:txBody>
                  <a:tcPr marL="9525" marR="9525" marT="9525" marB="0" anchor="b"/>
                </a:tc>
                <a:extLst>
                  <a:ext uri="{0D108BD9-81ED-4DB2-BD59-A6C34878D82A}">
                    <a16:rowId xmlns:a16="http://schemas.microsoft.com/office/drawing/2014/main" val="1889293879"/>
                  </a:ext>
                </a:extLst>
              </a:tr>
              <a:tr h="123223">
                <a:tc>
                  <a:txBody>
                    <a:bodyPr/>
                    <a:lstStyle/>
                    <a:p>
                      <a:pPr algn="ctr" fontAlgn="b"/>
                      <a:r>
                        <a:rPr lang="en-US" sz="1200" b="0" i="0" u="none" strike="noStrike" dirty="0">
                          <a:solidFill>
                            <a:srgbClr val="000000"/>
                          </a:solidFill>
                          <a:effectLst/>
                          <a:latin typeface="Aptos Narrow" panose="020B0004020202020204" pitchFamily="34" charset="0"/>
                        </a:rPr>
                        <a:t>Boulevard Heights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North</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5/27/2025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FX1103</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26.0171</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-80.232</a:t>
                      </a:r>
                    </a:p>
                  </a:txBody>
                  <a:tcPr marL="9525" marR="9525" marT="9525" marB="0" anchor="b"/>
                </a:tc>
                <a:extLst>
                  <a:ext uri="{0D108BD9-81ED-4DB2-BD59-A6C34878D82A}">
                    <a16:rowId xmlns:a16="http://schemas.microsoft.com/office/drawing/2014/main" val="1632680359"/>
                  </a:ext>
                </a:extLst>
              </a:tr>
              <a:tr h="77467">
                <a:tc>
                  <a:txBody>
                    <a:bodyPr/>
                    <a:lstStyle/>
                    <a:p>
                      <a:pPr algn="ctr" fontAlgn="b"/>
                      <a:r>
                        <a:rPr lang="en-US" sz="1200" b="0" i="0" u="none" strike="noStrike" dirty="0">
                          <a:solidFill>
                            <a:srgbClr val="000000"/>
                          </a:solidFill>
                          <a:effectLst/>
                          <a:latin typeface="Aptos Narrow" panose="020B0004020202020204" pitchFamily="34" charset="0"/>
                        </a:rPr>
                        <a:t>Boulevard Heights</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South</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5/27/2025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FX1105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26.01815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-80.2322</a:t>
                      </a:r>
                    </a:p>
                  </a:txBody>
                  <a:tcPr marL="9525" marR="9525" marT="9525" marB="0" anchor="b"/>
                </a:tc>
                <a:extLst>
                  <a:ext uri="{0D108BD9-81ED-4DB2-BD59-A6C34878D82A}">
                    <a16:rowId xmlns:a16="http://schemas.microsoft.com/office/drawing/2014/main" val="2301856099"/>
                  </a:ext>
                </a:extLst>
              </a:tr>
              <a:tr h="100722">
                <a:tc>
                  <a:txBody>
                    <a:bodyPr/>
                    <a:lstStyle/>
                    <a:p>
                      <a:pPr algn="ctr" fontAlgn="b"/>
                      <a:r>
                        <a:rPr lang="en-US" sz="1200" b="0" i="0" u="none" strike="noStrike" dirty="0">
                          <a:solidFill>
                            <a:srgbClr val="000000"/>
                          </a:solidFill>
                          <a:effectLst/>
                          <a:latin typeface="Aptos Narrow" panose="020B0004020202020204" pitchFamily="34" charset="0"/>
                        </a:rPr>
                        <a:t>Chaminade - Madonna College Prep</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High</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North</a:t>
                      </a:r>
                    </a:p>
                  </a:txBody>
                  <a:tcPr marL="9525" marR="9525" marT="9525" marB="0" anchor="b"/>
                </a:tc>
                <a:tc>
                  <a:txBody>
                    <a:bodyPr/>
                    <a:lstStyle/>
                    <a:p>
                      <a:pPr algn="ctr" fontAlgn="b"/>
                      <a:r>
                        <a:rPr lang="de-DE" sz="1200" b="0" i="0" u="none" strike="noStrike">
                          <a:solidFill>
                            <a:srgbClr val="000000"/>
                          </a:solidFill>
                          <a:effectLst/>
                          <a:latin typeface="Aptos Narrow" panose="020B0004020202020204" pitchFamily="34" charset="0"/>
                        </a:rPr>
                        <a:t>7:31am-7:59am, 8:00am-1:40pm, 8:00am-2:10pm, 8:00am-3:00pm, 1:41pm-2:09pm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5/2/2025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FX1109</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26.01417</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-80.2322</a:t>
                      </a:r>
                    </a:p>
                  </a:txBody>
                  <a:tcPr marL="9525" marR="9525" marT="9525" marB="0" anchor="b"/>
                </a:tc>
                <a:extLst>
                  <a:ext uri="{0D108BD9-81ED-4DB2-BD59-A6C34878D82A}">
                    <a16:rowId xmlns:a16="http://schemas.microsoft.com/office/drawing/2014/main" val="3077999517"/>
                  </a:ext>
                </a:extLst>
              </a:tr>
              <a:tr h="234396">
                <a:tc>
                  <a:txBody>
                    <a:bodyPr/>
                    <a:lstStyle/>
                    <a:p>
                      <a:pPr algn="ctr" fontAlgn="b"/>
                      <a:r>
                        <a:rPr lang="en-US" sz="1200" b="0" i="0" u="none" strike="noStrike" dirty="0">
                          <a:solidFill>
                            <a:srgbClr val="000000"/>
                          </a:solidFill>
                          <a:effectLst/>
                          <a:latin typeface="Aptos Narrow" panose="020B0004020202020204" pitchFamily="34" charset="0"/>
                        </a:rPr>
                        <a:t>Chaminade - Madonna College Prep</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High</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South</a:t>
                      </a:r>
                    </a:p>
                  </a:txBody>
                  <a:tcPr marL="9525" marR="9525" marT="9525" marB="0" anchor="b"/>
                </a:tc>
                <a:tc>
                  <a:txBody>
                    <a:bodyPr/>
                    <a:lstStyle/>
                    <a:p>
                      <a:pPr algn="ctr" fontAlgn="b"/>
                      <a:r>
                        <a:rPr lang="de-DE" sz="1200" b="0" i="0" u="none" strike="noStrike" dirty="0">
                          <a:solidFill>
                            <a:srgbClr val="000000"/>
                          </a:solidFill>
                          <a:effectLst/>
                          <a:latin typeface="Aptos Narrow" panose="020B0004020202020204" pitchFamily="34" charset="0"/>
                        </a:rPr>
                        <a:t>7:31am-7:59am, 8:00am-1:40pm, 8:00am-3:00pm, 1:41am-2:09pm, 3:01pm-3:29pm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5/2/2025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FX1110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26.01642</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-80.195</a:t>
                      </a:r>
                    </a:p>
                  </a:txBody>
                  <a:tcPr marL="9525" marR="9525" marT="9525" marB="0" anchor="b"/>
                </a:tc>
                <a:extLst>
                  <a:ext uri="{0D108BD9-81ED-4DB2-BD59-A6C34878D82A}">
                    <a16:rowId xmlns:a16="http://schemas.microsoft.com/office/drawing/2014/main" val="3958435931"/>
                  </a:ext>
                </a:extLst>
              </a:tr>
              <a:tr h="238673">
                <a:tc>
                  <a:txBody>
                    <a:bodyPr/>
                    <a:lstStyle/>
                    <a:p>
                      <a:pPr algn="ctr" fontAlgn="b"/>
                      <a:r>
                        <a:rPr lang="en-US" sz="1200" b="0" i="0" u="none" strike="noStrike" dirty="0">
                          <a:solidFill>
                            <a:srgbClr val="000000"/>
                          </a:solidFill>
                          <a:effectLst/>
                          <a:latin typeface="Aptos Narrow" panose="020B0004020202020204" pitchFamily="34" charset="0"/>
                        </a:rPr>
                        <a:t>Championship Academy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East</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8/12/2024</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FX1071</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26.00058</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-80.1888</a:t>
                      </a:r>
                    </a:p>
                  </a:txBody>
                  <a:tcPr marL="9525" marR="9525" marT="9525" marB="0" anchor="b"/>
                </a:tc>
                <a:extLst>
                  <a:ext uri="{0D108BD9-81ED-4DB2-BD59-A6C34878D82A}">
                    <a16:rowId xmlns:a16="http://schemas.microsoft.com/office/drawing/2014/main" val="3678556861"/>
                  </a:ext>
                </a:extLst>
              </a:tr>
              <a:tr h="207034">
                <a:tc>
                  <a:txBody>
                    <a:bodyPr/>
                    <a:lstStyle/>
                    <a:p>
                      <a:pPr algn="ctr" fontAlgn="b"/>
                      <a:r>
                        <a:rPr lang="en-US" sz="1200" b="0" i="0" u="none" strike="noStrike" dirty="0">
                          <a:solidFill>
                            <a:srgbClr val="000000"/>
                          </a:solidFill>
                          <a:effectLst/>
                          <a:latin typeface="Aptos Narrow" panose="020B0004020202020204" pitchFamily="34" charset="0"/>
                        </a:rPr>
                        <a:t>Championship Academy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West</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8/12/2024</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FX1081</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26.00139</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-80.1893</a:t>
                      </a:r>
                    </a:p>
                  </a:txBody>
                  <a:tcPr marL="9525" marR="9525" marT="9525" marB="0" anchor="b"/>
                </a:tc>
                <a:extLst>
                  <a:ext uri="{0D108BD9-81ED-4DB2-BD59-A6C34878D82A}">
                    <a16:rowId xmlns:a16="http://schemas.microsoft.com/office/drawing/2014/main" val="3099298656"/>
                  </a:ext>
                </a:extLst>
              </a:tr>
              <a:tr h="198408">
                <a:tc>
                  <a:txBody>
                    <a:bodyPr/>
                    <a:lstStyle/>
                    <a:p>
                      <a:pPr algn="ctr" fontAlgn="b"/>
                      <a:r>
                        <a:rPr lang="en-US" sz="1200" b="0" i="0" u="none" strike="noStrike" dirty="0">
                          <a:solidFill>
                            <a:srgbClr val="000000"/>
                          </a:solidFill>
                          <a:effectLst/>
                          <a:latin typeface="Aptos Narrow" panose="020B0004020202020204" pitchFamily="34" charset="0"/>
                        </a:rPr>
                        <a:t>Colbert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North</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7:16am-7:44am, 7:45am-1:45pm, 1:46pm-2:14pm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8/12/2024</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FX1062</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26.00224</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-80.1569</a:t>
                      </a:r>
                    </a:p>
                  </a:txBody>
                  <a:tcPr marL="9525" marR="9525" marT="9525" marB="0" anchor="b"/>
                </a:tc>
                <a:extLst>
                  <a:ext uri="{0D108BD9-81ED-4DB2-BD59-A6C34878D82A}">
                    <a16:rowId xmlns:a16="http://schemas.microsoft.com/office/drawing/2014/main" val="1638401456"/>
                  </a:ext>
                </a:extLst>
              </a:tr>
              <a:tr h="207034">
                <a:tc>
                  <a:txBody>
                    <a:bodyPr/>
                    <a:lstStyle/>
                    <a:p>
                      <a:pPr algn="ctr" fontAlgn="b"/>
                      <a:r>
                        <a:rPr lang="en-US" sz="1200" b="0" i="0" u="none" strike="noStrike" dirty="0">
                          <a:solidFill>
                            <a:srgbClr val="000000"/>
                          </a:solidFill>
                          <a:effectLst/>
                          <a:latin typeface="Aptos Narrow" panose="020B0004020202020204" pitchFamily="34" charset="0"/>
                        </a:rPr>
                        <a:t>Colbert ES</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South</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7:16am-7:44am, 7:45am-1:45pm, 1:46pm-2:14pm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8/12/2024</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FX1067</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26.00224</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-80.1569</a:t>
                      </a:r>
                    </a:p>
                  </a:txBody>
                  <a:tcPr marL="9525" marR="9525" marT="9525" marB="0" anchor="b"/>
                </a:tc>
                <a:extLst>
                  <a:ext uri="{0D108BD9-81ED-4DB2-BD59-A6C34878D82A}">
                    <a16:rowId xmlns:a16="http://schemas.microsoft.com/office/drawing/2014/main" val="3806470746"/>
                  </a:ext>
                </a:extLst>
              </a:tr>
              <a:tr h="138022">
                <a:tc>
                  <a:txBody>
                    <a:bodyPr/>
                    <a:lstStyle/>
                    <a:p>
                      <a:pPr algn="ctr" fontAlgn="b"/>
                      <a:r>
                        <a:rPr lang="en-US" sz="1200" b="0" i="0" u="none" strike="noStrike" dirty="0">
                          <a:solidFill>
                            <a:srgbClr val="000000"/>
                          </a:solidFill>
                          <a:effectLst/>
                          <a:latin typeface="Aptos Narrow" panose="020B0004020202020204" pitchFamily="34" charset="0"/>
                        </a:rPr>
                        <a:t>Driftwood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South</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8/12/2024</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FX1131L</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26.03492</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-80.2267</a:t>
                      </a:r>
                    </a:p>
                  </a:txBody>
                  <a:tcPr marL="9525" marR="9525" marT="9525" marB="0" anchor="b"/>
                </a:tc>
                <a:extLst>
                  <a:ext uri="{0D108BD9-81ED-4DB2-BD59-A6C34878D82A}">
                    <a16:rowId xmlns:a16="http://schemas.microsoft.com/office/drawing/2014/main" val="14796443"/>
                  </a:ext>
                </a:extLst>
              </a:tr>
              <a:tr h="100893">
                <a:tc>
                  <a:txBody>
                    <a:bodyPr/>
                    <a:lstStyle/>
                    <a:p>
                      <a:pPr algn="ctr" fontAlgn="b"/>
                      <a:r>
                        <a:rPr lang="en-US" sz="1200" b="0" i="0" u="none" strike="noStrike" dirty="0">
                          <a:solidFill>
                            <a:srgbClr val="000000"/>
                          </a:solidFill>
                          <a:effectLst/>
                          <a:latin typeface="Aptos Narrow" panose="020B0004020202020204" pitchFamily="34" charset="0"/>
                        </a:rPr>
                        <a:t>Driftwood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South</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8/12/2024</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FX1131R</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26.03492</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-80.2267</a:t>
                      </a:r>
                    </a:p>
                  </a:txBody>
                  <a:tcPr marL="9525" marR="9525" marT="9525" marB="0" anchor="b"/>
                </a:tc>
                <a:extLst>
                  <a:ext uri="{0D108BD9-81ED-4DB2-BD59-A6C34878D82A}">
                    <a16:rowId xmlns:a16="http://schemas.microsoft.com/office/drawing/2014/main" val="1162610130"/>
                  </a:ext>
                </a:extLst>
              </a:tr>
            </a:tbl>
          </a:graphicData>
        </a:graphic>
      </p:graphicFrame>
    </p:spTree>
    <p:extLst>
      <p:ext uri="{BB962C8B-B14F-4D97-AF65-F5344CB8AC3E}">
        <p14:creationId xmlns:p14="http://schemas.microsoft.com/office/powerpoint/2010/main" val="806812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3726F-A337-BF6B-7590-DD26691996B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F6BE99-17CF-6070-7F74-9F384CCF7335}"/>
              </a:ext>
            </a:extLst>
          </p:cNvPr>
          <p:cNvSpPr>
            <a:spLocks noGrp="1"/>
          </p:cNvSpPr>
          <p:nvPr>
            <p:ph type="sldNum" sz="quarter" idx="11"/>
          </p:nvPr>
        </p:nvSpPr>
        <p:spPr/>
        <p:txBody>
          <a:bodyPr/>
          <a:lstStyle/>
          <a:p>
            <a:fld id="{BC5586A0-C3E6-4B60-9429-234BB5256C0F}" type="slidenum">
              <a:rPr lang="en-US" smtClean="0"/>
              <a:pPr/>
              <a:t>4</a:t>
            </a:fld>
            <a:endParaRPr lang="en-US" dirty="0"/>
          </a:p>
        </p:txBody>
      </p:sp>
      <p:sp>
        <p:nvSpPr>
          <p:cNvPr id="9" name="Title 8">
            <a:extLst>
              <a:ext uri="{FF2B5EF4-FFF2-40B4-BE49-F238E27FC236}">
                <a16:creationId xmlns:a16="http://schemas.microsoft.com/office/drawing/2014/main" id="{32548362-4B35-E982-459B-AD744CA4E2E5}"/>
              </a:ext>
            </a:extLst>
          </p:cNvPr>
          <p:cNvSpPr>
            <a:spLocks noGrp="1"/>
          </p:cNvSpPr>
          <p:nvPr>
            <p:ph type="title"/>
          </p:nvPr>
        </p:nvSpPr>
        <p:spPr>
          <a:xfrm>
            <a:off x="609600" y="274638"/>
            <a:ext cx="10972800" cy="639762"/>
          </a:xfrm>
        </p:spPr>
        <p:txBody>
          <a:bodyPr/>
          <a:lstStyle/>
          <a:p>
            <a:r>
              <a:rPr lang="en-US" dirty="0"/>
              <a:t>Speed Cameras in Hollywood </a:t>
            </a:r>
          </a:p>
        </p:txBody>
      </p:sp>
      <p:graphicFrame>
        <p:nvGraphicFramePr>
          <p:cNvPr id="2" name="Table 1">
            <a:extLst>
              <a:ext uri="{FF2B5EF4-FFF2-40B4-BE49-F238E27FC236}">
                <a16:creationId xmlns:a16="http://schemas.microsoft.com/office/drawing/2014/main" id="{4CDCB521-857B-CACC-A427-5C12D355DC41}"/>
              </a:ext>
            </a:extLst>
          </p:cNvPr>
          <p:cNvGraphicFramePr>
            <a:graphicFrameLocks noGrp="1"/>
          </p:cNvGraphicFramePr>
          <p:nvPr>
            <p:extLst>
              <p:ext uri="{D42A27DB-BD31-4B8C-83A1-F6EECF244321}">
                <p14:modId xmlns:p14="http://schemas.microsoft.com/office/powerpoint/2010/main" val="1210302533"/>
              </p:ext>
            </p:extLst>
          </p:nvPr>
        </p:nvGraphicFramePr>
        <p:xfrm>
          <a:off x="586115" y="992039"/>
          <a:ext cx="10996285" cy="3737610"/>
        </p:xfrm>
        <a:graphic>
          <a:graphicData uri="http://schemas.openxmlformats.org/drawingml/2006/table">
            <a:tbl>
              <a:tblPr firstRow="1" bandRow="1">
                <a:tableStyleId>{7DF18680-E054-41AD-8BC1-D1AEF772440D}</a:tableStyleId>
              </a:tblPr>
              <a:tblGrid>
                <a:gridCol w="2389998">
                  <a:extLst>
                    <a:ext uri="{9D8B030D-6E8A-4147-A177-3AD203B41FA5}">
                      <a16:colId xmlns:a16="http://schemas.microsoft.com/office/drawing/2014/main" val="2111808596"/>
                    </a:ext>
                  </a:extLst>
                </a:gridCol>
                <a:gridCol w="1250830">
                  <a:extLst>
                    <a:ext uri="{9D8B030D-6E8A-4147-A177-3AD203B41FA5}">
                      <a16:colId xmlns:a16="http://schemas.microsoft.com/office/drawing/2014/main" val="1407353396"/>
                    </a:ext>
                  </a:extLst>
                </a:gridCol>
                <a:gridCol w="500332">
                  <a:extLst>
                    <a:ext uri="{9D8B030D-6E8A-4147-A177-3AD203B41FA5}">
                      <a16:colId xmlns:a16="http://schemas.microsoft.com/office/drawing/2014/main" val="3894658078"/>
                    </a:ext>
                  </a:extLst>
                </a:gridCol>
                <a:gridCol w="3269412">
                  <a:extLst>
                    <a:ext uri="{9D8B030D-6E8A-4147-A177-3AD203B41FA5}">
                      <a16:colId xmlns:a16="http://schemas.microsoft.com/office/drawing/2014/main" val="1863451845"/>
                    </a:ext>
                  </a:extLst>
                </a:gridCol>
                <a:gridCol w="379562">
                  <a:extLst>
                    <a:ext uri="{9D8B030D-6E8A-4147-A177-3AD203B41FA5}">
                      <a16:colId xmlns:a16="http://schemas.microsoft.com/office/drawing/2014/main" val="1168114660"/>
                    </a:ext>
                  </a:extLst>
                </a:gridCol>
                <a:gridCol w="431321">
                  <a:extLst>
                    <a:ext uri="{9D8B030D-6E8A-4147-A177-3AD203B41FA5}">
                      <a16:colId xmlns:a16="http://schemas.microsoft.com/office/drawing/2014/main" val="3018529306"/>
                    </a:ext>
                  </a:extLst>
                </a:gridCol>
                <a:gridCol w="785004">
                  <a:extLst>
                    <a:ext uri="{9D8B030D-6E8A-4147-A177-3AD203B41FA5}">
                      <a16:colId xmlns:a16="http://schemas.microsoft.com/office/drawing/2014/main" val="2798346557"/>
                    </a:ext>
                  </a:extLst>
                </a:gridCol>
                <a:gridCol w="629728">
                  <a:extLst>
                    <a:ext uri="{9D8B030D-6E8A-4147-A177-3AD203B41FA5}">
                      <a16:colId xmlns:a16="http://schemas.microsoft.com/office/drawing/2014/main" val="259379407"/>
                    </a:ext>
                  </a:extLst>
                </a:gridCol>
                <a:gridCol w="707366">
                  <a:extLst>
                    <a:ext uri="{9D8B030D-6E8A-4147-A177-3AD203B41FA5}">
                      <a16:colId xmlns:a16="http://schemas.microsoft.com/office/drawing/2014/main" val="1612257702"/>
                    </a:ext>
                  </a:extLst>
                </a:gridCol>
                <a:gridCol w="652732">
                  <a:extLst>
                    <a:ext uri="{9D8B030D-6E8A-4147-A177-3AD203B41FA5}">
                      <a16:colId xmlns:a16="http://schemas.microsoft.com/office/drawing/2014/main" val="502454813"/>
                    </a:ext>
                  </a:extLst>
                </a:gridCol>
              </a:tblGrid>
              <a:tr h="241538">
                <a:tc>
                  <a:txBody>
                    <a:bodyPr/>
                    <a:lstStyle/>
                    <a:p>
                      <a:pPr algn="ctr"/>
                      <a:r>
                        <a:rPr lang="en-US" sz="1200" dirty="0"/>
                        <a:t>School Name</a:t>
                      </a:r>
                    </a:p>
                  </a:txBody>
                  <a:tcPr/>
                </a:tc>
                <a:tc>
                  <a:txBody>
                    <a:bodyPr/>
                    <a:lstStyle/>
                    <a:p>
                      <a:pPr algn="ctr"/>
                      <a:r>
                        <a:rPr lang="en-US" sz="1200" dirty="0"/>
                        <a:t>Level</a:t>
                      </a:r>
                    </a:p>
                  </a:txBody>
                  <a:tcPr/>
                </a:tc>
                <a:tc>
                  <a:txBody>
                    <a:bodyPr/>
                    <a:lstStyle/>
                    <a:p>
                      <a:pPr algn="ctr"/>
                      <a:r>
                        <a:rPr lang="en-US" sz="1200" dirty="0"/>
                        <a:t>Dir</a:t>
                      </a:r>
                    </a:p>
                  </a:txBody>
                  <a:tcPr/>
                </a:tc>
                <a:tc>
                  <a:txBody>
                    <a:bodyPr/>
                    <a:lstStyle/>
                    <a:p>
                      <a:pPr algn="ctr"/>
                      <a:r>
                        <a:rPr lang="en-US" sz="1200" dirty="0"/>
                        <a:t>Enforcement Times</a:t>
                      </a:r>
                    </a:p>
                  </a:txBody>
                  <a:tcPr/>
                </a:tc>
                <a:tc>
                  <a:txBody>
                    <a:bodyPr/>
                    <a:lstStyle/>
                    <a:p>
                      <a:pPr algn="ctr"/>
                      <a:r>
                        <a:rPr lang="en-US" sz="1200" dirty="0"/>
                        <a:t>S</a:t>
                      </a:r>
                    </a:p>
                  </a:txBody>
                  <a:tcPr/>
                </a:tc>
                <a:tc>
                  <a:txBody>
                    <a:bodyPr/>
                    <a:lstStyle/>
                    <a:p>
                      <a:pPr algn="ctr"/>
                      <a:r>
                        <a:rPr lang="en-US" sz="1200" dirty="0"/>
                        <a:t>N</a:t>
                      </a:r>
                    </a:p>
                  </a:txBody>
                  <a:tcPr/>
                </a:tc>
                <a:tc>
                  <a:txBody>
                    <a:bodyPr/>
                    <a:lstStyle/>
                    <a:p>
                      <a:pPr algn="ctr"/>
                      <a:r>
                        <a:rPr lang="en-US" sz="1200" dirty="0"/>
                        <a:t> Active</a:t>
                      </a:r>
                    </a:p>
                  </a:txBody>
                  <a:tcPr/>
                </a:tc>
                <a:tc>
                  <a:txBody>
                    <a:bodyPr/>
                    <a:lstStyle/>
                    <a:p>
                      <a:pPr algn="ctr"/>
                      <a:r>
                        <a:rPr lang="en-US" sz="1200" dirty="0"/>
                        <a:t>Ser#</a:t>
                      </a:r>
                    </a:p>
                  </a:txBody>
                  <a:tcPr/>
                </a:tc>
                <a:tc>
                  <a:txBody>
                    <a:bodyPr/>
                    <a:lstStyle/>
                    <a:p>
                      <a:pPr algn="ctr"/>
                      <a:r>
                        <a:rPr lang="en-US" sz="1200" dirty="0"/>
                        <a:t>Lat</a:t>
                      </a:r>
                    </a:p>
                  </a:txBody>
                  <a:tcPr/>
                </a:tc>
                <a:tc>
                  <a:txBody>
                    <a:bodyPr/>
                    <a:lstStyle/>
                    <a:p>
                      <a:pPr algn="ctr"/>
                      <a:r>
                        <a:rPr lang="en-US" sz="1200" dirty="0"/>
                        <a:t>Long</a:t>
                      </a:r>
                    </a:p>
                  </a:txBody>
                  <a:tcPr/>
                </a:tc>
                <a:extLst>
                  <a:ext uri="{0D108BD9-81ED-4DB2-BD59-A6C34878D82A}">
                    <a16:rowId xmlns:a16="http://schemas.microsoft.com/office/drawing/2014/main" val="2182406195"/>
                  </a:ext>
                </a:extLst>
              </a:tr>
              <a:tr h="167280">
                <a:tc>
                  <a:txBody>
                    <a:bodyPr/>
                    <a:lstStyle/>
                    <a:p>
                      <a:pPr algn="ctr" fontAlgn="b"/>
                      <a:r>
                        <a:rPr lang="en-US" sz="1200" b="0" i="0" u="none" strike="noStrike" dirty="0">
                          <a:solidFill>
                            <a:srgbClr val="000000"/>
                          </a:solidFill>
                          <a:effectLst/>
                          <a:latin typeface="Aptos Narrow" panose="020B0004020202020204" pitchFamily="34" charset="0"/>
                        </a:rPr>
                        <a:t>Driftwood MS</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Middle</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North</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9:01am-9:29am, 9:30am-4:00pm, 4:01pm-4:29pm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5/5/2025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FX1129</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26.03342</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-80.2296</a:t>
                      </a:r>
                    </a:p>
                  </a:txBody>
                  <a:tcPr marL="9525" marR="9525" marT="9525" marB="0" anchor="b"/>
                </a:tc>
                <a:extLst>
                  <a:ext uri="{0D108BD9-81ED-4DB2-BD59-A6C34878D82A}">
                    <a16:rowId xmlns:a16="http://schemas.microsoft.com/office/drawing/2014/main" val="2447614587"/>
                  </a:ext>
                </a:extLst>
              </a:tr>
              <a:tr h="95645">
                <a:tc>
                  <a:txBody>
                    <a:bodyPr/>
                    <a:lstStyle/>
                    <a:p>
                      <a:pPr algn="ctr" fontAlgn="b"/>
                      <a:r>
                        <a:rPr lang="en-US" sz="1200" b="0" i="0" u="none" strike="noStrike" dirty="0">
                          <a:solidFill>
                            <a:srgbClr val="000000"/>
                          </a:solidFill>
                          <a:effectLst/>
                          <a:latin typeface="Aptos Narrow" panose="020B0004020202020204" pitchFamily="34" charset="0"/>
                        </a:rPr>
                        <a:t>Driftwood MS</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Middle</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South</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9:01am-9:29am, 9:30am-4:00pm, 4:01pm-4:29pm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5/5/2025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FX1130</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26.03593</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-80.2298</a:t>
                      </a:r>
                    </a:p>
                  </a:txBody>
                  <a:tcPr marL="9525" marR="9525" marT="9525" marB="0" anchor="b"/>
                </a:tc>
                <a:extLst>
                  <a:ext uri="{0D108BD9-81ED-4DB2-BD59-A6C34878D82A}">
                    <a16:rowId xmlns:a16="http://schemas.microsoft.com/office/drawing/2014/main" val="2727623516"/>
                  </a:ext>
                </a:extLst>
              </a:tr>
              <a:tr h="153406">
                <a:tc>
                  <a:txBody>
                    <a:bodyPr/>
                    <a:lstStyle/>
                    <a:p>
                      <a:pPr algn="ctr" fontAlgn="b"/>
                      <a:r>
                        <a:rPr lang="en-US" sz="1200" b="0" i="0" u="none" strike="noStrike">
                          <a:solidFill>
                            <a:srgbClr val="000000"/>
                          </a:solidFill>
                          <a:effectLst/>
                          <a:latin typeface="Aptos Narrow" panose="020B0004020202020204" pitchFamily="34" charset="0"/>
                        </a:rPr>
                        <a:t>Hollywood Hills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East</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8/12/2024</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FX1112</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26.02531</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-80.1816</a:t>
                      </a:r>
                    </a:p>
                  </a:txBody>
                  <a:tcPr marL="9525" marR="9525" marT="9525" marB="0" anchor="b"/>
                </a:tc>
                <a:extLst>
                  <a:ext uri="{0D108BD9-81ED-4DB2-BD59-A6C34878D82A}">
                    <a16:rowId xmlns:a16="http://schemas.microsoft.com/office/drawing/2014/main" val="2245062878"/>
                  </a:ext>
                </a:extLst>
              </a:tr>
              <a:tr h="116277">
                <a:tc>
                  <a:txBody>
                    <a:bodyPr/>
                    <a:lstStyle/>
                    <a:p>
                      <a:pPr algn="ctr" fontAlgn="b"/>
                      <a:r>
                        <a:rPr lang="en-US" sz="1200" b="0" i="0" u="none" strike="noStrike" dirty="0">
                          <a:solidFill>
                            <a:srgbClr val="000000"/>
                          </a:solidFill>
                          <a:effectLst/>
                          <a:latin typeface="Aptos Narrow" panose="020B0004020202020204" pitchFamily="34" charset="0"/>
                        </a:rPr>
                        <a:t>Hollywood Hills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West</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8/12/2024</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FX1123</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26.02564</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-80.1781</a:t>
                      </a:r>
                    </a:p>
                  </a:txBody>
                  <a:tcPr marL="9525" marR="9525" marT="9525" marB="0" anchor="b"/>
                </a:tc>
                <a:extLst>
                  <a:ext uri="{0D108BD9-81ED-4DB2-BD59-A6C34878D82A}">
                    <a16:rowId xmlns:a16="http://schemas.microsoft.com/office/drawing/2014/main" val="3253502010"/>
                  </a:ext>
                </a:extLst>
              </a:tr>
              <a:tr h="130905">
                <a:tc>
                  <a:txBody>
                    <a:bodyPr/>
                    <a:lstStyle/>
                    <a:p>
                      <a:pPr algn="ctr" fontAlgn="b"/>
                      <a:r>
                        <a:rPr lang="en-US" sz="1200" b="0" i="0" u="none" strike="noStrike">
                          <a:solidFill>
                            <a:srgbClr val="000000"/>
                          </a:solidFill>
                          <a:effectLst/>
                          <a:latin typeface="Aptos Narrow" panose="020B0004020202020204" pitchFamily="34" charset="0"/>
                        </a:rPr>
                        <a:t>Hollywood Park ES</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East</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7:41am-8:09am, 8:10am-2:10pm,2:11pm-2:39pm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1/7/2025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FX1068</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26.01708</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-80.2262</a:t>
                      </a:r>
                    </a:p>
                  </a:txBody>
                  <a:tcPr marL="9525" marR="9525" marT="9525" marB="0" anchor="b"/>
                </a:tc>
                <a:extLst>
                  <a:ext uri="{0D108BD9-81ED-4DB2-BD59-A6C34878D82A}">
                    <a16:rowId xmlns:a16="http://schemas.microsoft.com/office/drawing/2014/main" val="2173866468"/>
                  </a:ext>
                </a:extLst>
              </a:tr>
              <a:tr h="136908">
                <a:tc>
                  <a:txBody>
                    <a:bodyPr/>
                    <a:lstStyle/>
                    <a:p>
                      <a:pPr algn="ctr" fontAlgn="b"/>
                      <a:r>
                        <a:rPr lang="en-US" sz="1200" b="0" i="0" u="none" strike="noStrike">
                          <a:solidFill>
                            <a:srgbClr val="000000"/>
                          </a:solidFill>
                          <a:effectLst/>
                          <a:latin typeface="Aptos Narrow" panose="020B0004020202020204" pitchFamily="34" charset="0"/>
                        </a:rPr>
                        <a:t>Hollywood Park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West</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7:41am-8:09am, 8:10am-2:10pm,2:11pm-2:39pm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1/7/2025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FX1098</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26.01722</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-80.2251</a:t>
                      </a:r>
                    </a:p>
                  </a:txBody>
                  <a:tcPr marL="9525" marR="9525" marT="9525" marB="0" anchor="b"/>
                </a:tc>
                <a:extLst>
                  <a:ext uri="{0D108BD9-81ED-4DB2-BD59-A6C34878D82A}">
                    <a16:rowId xmlns:a16="http://schemas.microsoft.com/office/drawing/2014/main" val="1445833608"/>
                  </a:ext>
                </a:extLst>
              </a:tr>
              <a:tr h="99779">
                <a:tc>
                  <a:txBody>
                    <a:bodyPr/>
                    <a:lstStyle/>
                    <a:p>
                      <a:pPr algn="ctr" fontAlgn="b"/>
                      <a:r>
                        <a:rPr lang="en-US" sz="1200" b="0" i="0" u="none" strike="noStrike">
                          <a:solidFill>
                            <a:srgbClr val="000000"/>
                          </a:solidFill>
                          <a:effectLst/>
                          <a:latin typeface="Aptos Narrow" panose="020B0004020202020204" pitchFamily="34" charset="0"/>
                        </a:rPr>
                        <a:t>Little Flower Catholic School</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PreK-8</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North</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7:50am-2:45pm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5/29/2025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FX1132</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26.01561</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-80.1452</a:t>
                      </a:r>
                    </a:p>
                  </a:txBody>
                  <a:tcPr marL="9525" marR="9525" marT="9525" marB="0" anchor="b"/>
                </a:tc>
                <a:extLst>
                  <a:ext uri="{0D108BD9-81ED-4DB2-BD59-A6C34878D82A}">
                    <a16:rowId xmlns:a16="http://schemas.microsoft.com/office/drawing/2014/main" val="1289020060"/>
                  </a:ext>
                </a:extLst>
              </a:tr>
              <a:tr h="123034">
                <a:tc>
                  <a:txBody>
                    <a:bodyPr/>
                    <a:lstStyle/>
                    <a:p>
                      <a:pPr algn="ctr" fontAlgn="b"/>
                      <a:r>
                        <a:rPr lang="en-US" sz="1200" b="0" i="0" u="none" strike="noStrike">
                          <a:solidFill>
                            <a:srgbClr val="000000"/>
                          </a:solidFill>
                          <a:effectLst/>
                          <a:latin typeface="Aptos Narrow" panose="020B0004020202020204" pitchFamily="34" charset="0"/>
                        </a:rPr>
                        <a:t>Little Flower Catholic School</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PreK-8</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South</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7:50am-2:45pm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5/29/2025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FX1133</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26.01685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-80.1452</a:t>
                      </a:r>
                    </a:p>
                  </a:txBody>
                  <a:tcPr marL="9525" marR="9525" marT="9525" marB="0" anchor="b"/>
                </a:tc>
                <a:extLst>
                  <a:ext uri="{0D108BD9-81ED-4DB2-BD59-A6C34878D82A}">
                    <a16:rowId xmlns:a16="http://schemas.microsoft.com/office/drawing/2014/main" val="460767961"/>
                  </a:ext>
                </a:extLst>
              </a:tr>
              <a:tr h="120410">
                <a:tc>
                  <a:txBody>
                    <a:bodyPr/>
                    <a:lstStyle/>
                    <a:p>
                      <a:pPr algn="ctr" fontAlgn="b"/>
                      <a:r>
                        <a:rPr lang="en-US" sz="1200" b="0" i="0" u="none" strike="noStrike">
                          <a:solidFill>
                            <a:srgbClr val="000000"/>
                          </a:solidFill>
                          <a:effectLst/>
                          <a:latin typeface="Aptos Narrow" panose="020B0004020202020204" pitchFamily="34" charset="0"/>
                        </a:rPr>
                        <a:t>Nativity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East</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7:21am-7:49am, 7:50am-2:50pm,2:51pm-3:19pm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4/16/2025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FX1134</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26.01795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-80.197</a:t>
                      </a:r>
                    </a:p>
                  </a:txBody>
                  <a:tcPr marL="9525" marR="9525" marT="9525" marB="0" anchor="b"/>
                </a:tc>
                <a:extLst>
                  <a:ext uri="{0D108BD9-81ED-4DB2-BD59-A6C34878D82A}">
                    <a16:rowId xmlns:a16="http://schemas.microsoft.com/office/drawing/2014/main" val="1229180368"/>
                  </a:ext>
                </a:extLst>
              </a:tr>
              <a:tr h="178171">
                <a:tc>
                  <a:txBody>
                    <a:bodyPr/>
                    <a:lstStyle/>
                    <a:p>
                      <a:pPr algn="ctr" fontAlgn="b"/>
                      <a:r>
                        <a:rPr lang="en-US" sz="1200" b="0" i="0" u="none" strike="noStrike">
                          <a:solidFill>
                            <a:srgbClr val="000000"/>
                          </a:solidFill>
                          <a:effectLst/>
                          <a:latin typeface="Aptos Narrow" panose="020B0004020202020204" pitchFamily="34" charset="0"/>
                        </a:rPr>
                        <a:t>Nativity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West</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7:21am-7:49am, 7:50am-2:50pm,2:51pm-3:19pm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4/16/2025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FX1135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26.01798</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-80.1959</a:t>
                      </a:r>
                    </a:p>
                  </a:txBody>
                  <a:tcPr marL="9525" marR="9525" marT="9525" marB="0" anchor="b"/>
                </a:tc>
                <a:extLst>
                  <a:ext uri="{0D108BD9-81ED-4DB2-BD59-A6C34878D82A}">
                    <a16:rowId xmlns:a16="http://schemas.microsoft.com/office/drawing/2014/main" val="3459515396"/>
                  </a:ext>
                </a:extLst>
              </a:tr>
              <a:tr h="166921">
                <a:tc>
                  <a:txBody>
                    <a:bodyPr/>
                    <a:lstStyle/>
                    <a:p>
                      <a:pPr algn="ctr" fontAlgn="b"/>
                      <a:r>
                        <a:rPr lang="en-US" sz="1200" b="0" i="0" u="none" strike="noStrike">
                          <a:solidFill>
                            <a:srgbClr val="000000"/>
                          </a:solidFill>
                          <a:effectLst/>
                          <a:latin typeface="Aptos Narrow" panose="020B0004020202020204" pitchFamily="34" charset="0"/>
                        </a:rPr>
                        <a:t>Orange Brook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East</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8/12/2025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FX1099</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26.00292</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-80.1886</a:t>
                      </a:r>
                    </a:p>
                  </a:txBody>
                  <a:tcPr marL="9525" marR="9525" marT="9525" marB="0" anchor="b"/>
                </a:tc>
                <a:extLst>
                  <a:ext uri="{0D108BD9-81ED-4DB2-BD59-A6C34878D82A}">
                    <a16:rowId xmlns:a16="http://schemas.microsoft.com/office/drawing/2014/main" val="1597698101"/>
                  </a:ext>
                </a:extLst>
              </a:tr>
              <a:tr h="129791">
                <a:tc>
                  <a:txBody>
                    <a:bodyPr/>
                    <a:lstStyle/>
                    <a:p>
                      <a:pPr algn="ctr" fontAlgn="b"/>
                      <a:r>
                        <a:rPr lang="en-US" sz="1200" b="0" i="0" u="none" strike="noStrike">
                          <a:solidFill>
                            <a:srgbClr val="000000"/>
                          </a:solidFill>
                          <a:effectLst/>
                          <a:latin typeface="Aptos Narrow" panose="020B0004020202020204" pitchFamily="34" charset="0"/>
                        </a:rPr>
                        <a:t>Orange Brook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West</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8/12/2025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FX1124</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26.00292</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-80.1881</a:t>
                      </a:r>
                    </a:p>
                  </a:txBody>
                  <a:tcPr marL="9525" marR="9525" marT="9525" marB="0" anchor="b"/>
                </a:tc>
                <a:extLst>
                  <a:ext uri="{0D108BD9-81ED-4DB2-BD59-A6C34878D82A}">
                    <a16:rowId xmlns:a16="http://schemas.microsoft.com/office/drawing/2014/main" val="4076761633"/>
                  </a:ext>
                </a:extLst>
              </a:tr>
              <a:tr h="178926">
                <a:tc>
                  <a:txBody>
                    <a:bodyPr/>
                    <a:lstStyle/>
                    <a:p>
                      <a:pPr algn="ctr" fontAlgn="b"/>
                      <a:r>
                        <a:rPr lang="en-US" sz="1200" b="0" i="0" u="none" strike="noStrike" dirty="0">
                          <a:solidFill>
                            <a:srgbClr val="000000"/>
                          </a:solidFill>
                          <a:effectLst/>
                          <a:latin typeface="Aptos Narrow" panose="020B0004020202020204" pitchFamily="34" charset="0"/>
                        </a:rPr>
                        <a:t>Sheridan Hills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East</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2/6/2025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FX1108</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26.03058</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-80.1946</a:t>
                      </a:r>
                    </a:p>
                  </a:txBody>
                  <a:tcPr marL="9525" marR="9525" marT="9525" marB="0" anchor="b"/>
                </a:tc>
                <a:extLst>
                  <a:ext uri="{0D108BD9-81ED-4DB2-BD59-A6C34878D82A}">
                    <a16:rowId xmlns:a16="http://schemas.microsoft.com/office/drawing/2014/main" val="3128221653"/>
                  </a:ext>
                </a:extLst>
              </a:tr>
              <a:tr h="115917">
                <a:tc>
                  <a:txBody>
                    <a:bodyPr/>
                    <a:lstStyle/>
                    <a:p>
                      <a:pPr algn="ctr" fontAlgn="b"/>
                      <a:r>
                        <a:rPr lang="en-US" sz="1200" b="0" i="0" u="none" strike="noStrike">
                          <a:solidFill>
                            <a:srgbClr val="000000"/>
                          </a:solidFill>
                          <a:effectLst/>
                          <a:latin typeface="Aptos Narrow" panose="020B0004020202020204" pitchFamily="34" charset="0"/>
                        </a:rPr>
                        <a:t>Sheridan Hills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West</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7:31am-7:59am, 8:00am-2:00pm,2:01pm-2:29pm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FX1122</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26.03061</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-80.1936</a:t>
                      </a:r>
                    </a:p>
                  </a:txBody>
                  <a:tcPr marL="9525" marR="9525" marT="9525" marB="0" anchor="b"/>
                </a:tc>
                <a:extLst>
                  <a:ext uri="{0D108BD9-81ED-4DB2-BD59-A6C34878D82A}">
                    <a16:rowId xmlns:a16="http://schemas.microsoft.com/office/drawing/2014/main" val="2062549966"/>
                  </a:ext>
                </a:extLst>
              </a:tr>
              <a:tr h="130546">
                <a:tc>
                  <a:txBody>
                    <a:bodyPr/>
                    <a:lstStyle/>
                    <a:p>
                      <a:pPr algn="ctr" fontAlgn="b"/>
                      <a:r>
                        <a:rPr lang="en-US" sz="1200" b="0" i="0" u="none" strike="noStrike">
                          <a:solidFill>
                            <a:srgbClr val="000000"/>
                          </a:solidFill>
                          <a:effectLst/>
                          <a:latin typeface="Aptos Narrow" panose="020B0004020202020204" pitchFamily="34" charset="0"/>
                        </a:rPr>
                        <a:t>Sunshine ES / Paragon Academy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North</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7:31am-7:59am, 8:00am-3:00pm,3:01pm-3:29pm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5/29/2025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FX1125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26.01483</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-80.1634</a:t>
                      </a:r>
                    </a:p>
                  </a:txBody>
                  <a:tcPr marL="9525" marR="9525" marT="9525" marB="0" anchor="b"/>
                </a:tc>
                <a:extLst>
                  <a:ext uri="{0D108BD9-81ED-4DB2-BD59-A6C34878D82A}">
                    <a16:rowId xmlns:a16="http://schemas.microsoft.com/office/drawing/2014/main" val="4196505603"/>
                  </a:ext>
                </a:extLst>
              </a:tr>
              <a:tr h="84790">
                <a:tc>
                  <a:txBody>
                    <a:bodyPr/>
                    <a:lstStyle/>
                    <a:p>
                      <a:pPr algn="ctr" fontAlgn="b"/>
                      <a:r>
                        <a:rPr lang="en-US" sz="1200" b="0" i="0" u="none" strike="noStrike">
                          <a:solidFill>
                            <a:srgbClr val="000000"/>
                          </a:solidFill>
                          <a:effectLst/>
                          <a:latin typeface="Aptos Narrow" panose="020B0004020202020204" pitchFamily="34" charset="0"/>
                        </a:rPr>
                        <a:t>Sunshine ES / Paragon Academy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South</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7:31am-7:59am, 8:00am-3:00pm,3:01pm-3:29pm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5/29/2025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FX1127</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26.01604</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-80.1634</a:t>
                      </a:r>
                    </a:p>
                  </a:txBody>
                  <a:tcPr marL="9525" marR="9525" marT="9525" marB="0" anchor="b"/>
                </a:tc>
                <a:extLst>
                  <a:ext uri="{0D108BD9-81ED-4DB2-BD59-A6C34878D82A}">
                    <a16:rowId xmlns:a16="http://schemas.microsoft.com/office/drawing/2014/main" val="4223149743"/>
                  </a:ext>
                </a:extLst>
              </a:tr>
              <a:tr h="99419">
                <a:tc>
                  <a:txBody>
                    <a:bodyPr/>
                    <a:lstStyle/>
                    <a:p>
                      <a:pPr algn="ctr" fontAlgn="b"/>
                      <a:r>
                        <a:rPr lang="en-US" sz="1200" b="0" i="0" u="none" strike="noStrike">
                          <a:solidFill>
                            <a:srgbClr val="000000"/>
                          </a:solidFill>
                          <a:effectLst/>
                          <a:latin typeface="Aptos Narrow" panose="020B0004020202020204" pitchFamily="34" charset="0"/>
                        </a:rPr>
                        <a:t>West Hollywood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North</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7:41am-8:09am, 8:10am-2:10pm,2:11pm-2:39pm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2/6/2025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FX1107</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26.01097</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-80.2156</a:t>
                      </a:r>
                    </a:p>
                  </a:txBody>
                  <a:tcPr marL="9525" marR="9525" marT="9525" marB="0" anchor="b"/>
                </a:tc>
                <a:extLst>
                  <a:ext uri="{0D108BD9-81ED-4DB2-BD59-A6C34878D82A}">
                    <a16:rowId xmlns:a16="http://schemas.microsoft.com/office/drawing/2014/main" val="3048143878"/>
                  </a:ext>
                </a:extLst>
              </a:tr>
              <a:tr h="96795">
                <a:tc>
                  <a:txBody>
                    <a:bodyPr/>
                    <a:lstStyle/>
                    <a:p>
                      <a:pPr algn="ctr" fontAlgn="b"/>
                      <a:r>
                        <a:rPr lang="en-US" sz="1200" b="0" i="0" u="none" strike="noStrike">
                          <a:solidFill>
                            <a:srgbClr val="000000"/>
                          </a:solidFill>
                          <a:effectLst/>
                          <a:latin typeface="Aptos Narrow" panose="020B0004020202020204" pitchFamily="34" charset="0"/>
                        </a:rPr>
                        <a:t>West Hollywood ES</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Elementary</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South</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7:41am-8:09am, 8:10am-2:10pm,2:11pm-2:39pm</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15</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30</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2/6/2025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FX1111</a:t>
                      </a:r>
                    </a:p>
                  </a:txBody>
                  <a:tcPr marL="9525" marR="9525" marT="9525" marB="0" anchor="b"/>
                </a:tc>
                <a:tc>
                  <a:txBody>
                    <a:bodyPr/>
                    <a:lstStyle/>
                    <a:p>
                      <a:pPr algn="ctr" fontAlgn="b"/>
                      <a:r>
                        <a:rPr lang="en-US" sz="1200" b="0" i="0" u="none" strike="noStrike">
                          <a:solidFill>
                            <a:srgbClr val="000000"/>
                          </a:solidFill>
                          <a:effectLst/>
                          <a:latin typeface="Aptos Narrow" panose="020B0004020202020204" pitchFamily="34" charset="0"/>
                        </a:rPr>
                        <a:t>26.01355</a:t>
                      </a:r>
                    </a:p>
                  </a:txBody>
                  <a:tcPr marL="9525" marR="9525" marT="9525" marB="0" anchor="b"/>
                </a:tc>
                <a:tc>
                  <a:txBody>
                    <a:bodyPr/>
                    <a:lstStyle/>
                    <a:p>
                      <a:pPr algn="ctr" fontAlgn="b"/>
                      <a:r>
                        <a:rPr lang="en-US" sz="1200" b="0" i="0" u="none" strike="noStrike" dirty="0">
                          <a:solidFill>
                            <a:srgbClr val="000000"/>
                          </a:solidFill>
                          <a:effectLst/>
                          <a:latin typeface="Aptos Narrow" panose="020B0004020202020204" pitchFamily="34" charset="0"/>
                        </a:rPr>
                        <a:t>-80.2158</a:t>
                      </a:r>
                    </a:p>
                  </a:txBody>
                  <a:tcPr marL="9525" marR="9525" marT="9525" marB="0" anchor="b"/>
                </a:tc>
                <a:extLst>
                  <a:ext uri="{0D108BD9-81ED-4DB2-BD59-A6C34878D82A}">
                    <a16:rowId xmlns:a16="http://schemas.microsoft.com/office/drawing/2014/main" val="1162096315"/>
                  </a:ext>
                </a:extLst>
              </a:tr>
            </a:tbl>
          </a:graphicData>
        </a:graphic>
      </p:graphicFrame>
    </p:spTree>
    <p:extLst>
      <p:ext uri="{BB962C8B-B14F-4D97-AF65-F5344CB8AC3E}">
        <p14:creationId xmlns:p14="http://schemas.microsoft.com/office/powerpoint/2010/main" val="824132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40598-1D53-9188-DA21-C1610FD62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886F6-85CD-CCB1-504B-0A5D1FFF9025}"/>
              </a:ext>
            </a:extLst>
          </p:cNvPr>
          <p:cNvSpPr>
            <a:spLocks noGrp="1"/>
          </p:cNvSpPr>
          <p:nvPr>
            <p:ph type="title"/>
          </p:nvPr>
        </p:nvSpPr>
        <p:spPr>
          <a:xfrm>
            <a:off x="609600" y="274638"/>
            <a:ext cx="10972800" cy="803665"/>
          </a:xfrm>
        </p:spPr>
        <p:txBody>
          <a:bodyPr/>
          <a:lstStyle/>
          <a:p>
            <a:r>
              <a:rPr lang="en-US" spc="-150" dirty="0"/>
              <a:t>Annual Statistics</a:t>
            </a:r>
          </a:p>
        </p:txBody>
      </p:sp>
      <p:sp>
        <p:nvSpPr>
          <p:cNvPr id="4" name="Slide Number Placeholder 3">
            <a:extLst>
              <a:ext uri="{FF2B5EF4-FFF2-40B4-BE49-F238E27FC236}">
                <a16:creationId xmlns:a16="http://schemas.microsoft.com/office/drawing/2014/main" id="{C4847659-2489-2107-1807-C58B6FD457F3}"/>
              </a:ext>
            </a:extLst>
          </p:cNvPr>
          <p:cNvSpPr>
            <a:spLocks noGrp="1"/>
          </p:cNvSpPr>
          <p:nvPr>
            <p:ph type="sldNum" sz="quarter" idx="11"/>
          </p:nvPr>
        </p:nvSpPr>
        <p:spPr/>
        <p:txBody>
          <a:bodyPr/>
          <a:lstStyle/>
          <a:p>
            <a:fld id="{BC5586A0-C3E6-4B60-9429-234BB5256C0F}" type="slidenum">
              <a:rPr lang="en-US" smtClean="0"/>
              <a:pPr/>
              <a:t>5</a:t>
            </a:fld>
            <a:endParaRPr lang="en-US" dirty="0"/>
          </a:p>
        </p:txBody>
      </p:sp>
      <p:sp>
        <p:nvSpPr>
          <p:cNvPr id="6" name="Content Placeholder 5">
            <a:extLst>
              <a:ext uri="{FF2B5EF4-FFF2-40B4-BE49-F238E27FC236}">
                <a16:creationId xmlns:a16="http://schemas.microsoft.com/office/drawing/2014/main" id="{D2BBD6F1-EB1D-A2DB-70C2-9832E295BF1C}"/>
              </a:ext>
            </a:extLst>
          </p:cNvPr>
          <p:cNvSpPr>
            <a:spLocks noGrp="1"/>
          </p:cNvSpPr>
          <p:nvPr>
            <p:ph idx="1"/>
          </p:nvPr>
        </p:nvSpPr>
        <p:spPr>
          <a:xfrm>
            <a:off x="508000" y="1078303"/>
            <a:ext cx="10972800" cy="552089"/>
          </a:xfrm>
        </p:spPr>
        <p:txBody>
          <a:bodyPr/>
          <a:lstStyle/>
          <a:p>
            <a:pPr marL="0" indent="0">
              <a:buNone/>
            </a:pPr>
            <a:r>
              <a:rPr lang="en-US" sz="2000" dirty="0">
                <a:solidFill>
                  <a:schemeClr val="tx1"/>
                </a:solidFill>
              </a:rPr>
              <a:t>For the Period 7/1/2024 – 6/30/2025</a:t>
            </a:r>
          </a:p>
          <a:p>
            <a:pPr marL="0" indent="0">
              <a:buNone/>
            </a:pPr>
            <a:endParaRPr lang="en-US" dirty="0">
              <a:solidFill>
                <a:schemeClr val="tx1"/>
              </a:solidFill>
            </a:endParaRPr>
          </a:p>
        </p:txBody>
      </p:sp>
      <p:graphicFrame>
        <p:nvGraphicFramePr>
          <p:cNvPr id="3" name="Table 2">
            <a:extLst>
              <a:ext uri="{FF2B5EF4-FFF2-40B4-BE49-F238E27FC236}">
                <a16:creationId xmlns:a16="http://schemas.microsoft.com/office/drawing/2014/main" id="{D593DE0E-48C1-6EAD-E1D6-EEA52A008557}"/>
              </a:ext>
            </a:extLst>
          </p:cNvPr>
          <p:cNvGraphicFramePr>
            <a:graphicFrameLocks noGrp="1"/>
          </p:cNvGraphicFramePr>
          <p:nvPr>
            <p:extLst>
              <p:ext uri="{D42A27DB-BD31-4B8C-83A1-F6EECF244321}">
                <p14:modId xmlns:p14="http://schemas.microsoft.com/office/powerpoint/2010/main" val="1625778106"/>
              </p:ext>
            </p:extLst>
          </p:nvPr>
        </p:nvGraphicFramePr>
        <p:xfrm>
          <a:off x="1216323" y="1607387"/>
          <a:ext cx="9066364" cy="3042920"/>
        </p:xfrm>
        <a:graphic>
          <a:graphicData uri="http://schemas.openxmlformats.org/drawingml/2006/table">
            <a:tbl>
              <a:tblPr firstRow="1" bandRow="1">
                <a:tableStyleId>{7DF18680-E054-41AD-8BC1-D1AEF772440D}</a:tableStyleId>
              </a:tblPr>
              <a:tblGrid>
                <a:gridCol w="6038492">
                  <a:extLst>
                    <a:ext uri="{9D8B030D-6E8A-4147-A177-3AD203B41FA5}">
                      <a16:colId xmlns:a16="http://schemas.microsoft.com/office/drawing/2014/main" val="2111808596"/>
                    </a:ext>
                  </a:extLst>
                </a:gridCol>
                <a:gridCol w="3027872">
                  <a:extLst>
                    <a:ext uri="{9D8B030D-6E8A-4147-A177-3AD203B41FA5}">
                      <a16:colId xmlns:a16="http://schemas.microsoft.com/office/drawing/2014/main" val="2594467477"/>
                    </a:ext>
                  </a:extLst>
                </a:gridCol>
              </a:tblGrid>
              <a:tr h="370840">
                <a:tc>
                  <a:txBody>
                    <a:bodyPr/>
                    <a:lstStyle/>
                    <a:p>
                      <a:pPr algn="l"/>
                      <a:r>
                        <a:rPr lang="en-US" sz="2400" dirty="0"/>
                        <a:t>Item</a:t>
                      </a:r>
                    </a:p>
                  </a:txBody>
                  <a:tcPr/>
                </a:tc>
                <a:tc>
                  <a:txBody>
                    <a:bodyPr/>
                    <a:lstStyle/>
                    <a:p>
                      <a:pPr algn="r"/>
                      <a:r>
                        <a:rPr lang="en-US" sz="2400" dirty="0"/>
                        <a:t>Amount</a:t>
                      </a:r>
                    </a:p>
                  </a:txBody>
                  <a:tcPr/>
                </a:tc>
                <a:extLst>
                  <a:ext uri="{0D108BD9-81ED-4DB2-BD59-A6C34878D82A}">
                    <a16:rowId xmlns:a16="http://schemas.microsoft.com/office/drawing/2014/main" val="2182406195"/>
                  </a:ext>
                </a:extLst>
              </a:tr>
              <a:tr h="370840">
                <a:tc>
                  <a:txBody>
                    <a:bodyPr/>
                    <a:lstStyle/>
                    <a:p>
                      <a:r>
                        <a:rPr lang="en-US" sz="1800" dirty="0">
                          <a:solidFill>
                            <a:schemeClr val="tx1"/>
                          </a:solidFill>
                        </a:rPr>
                        <a:t>Total Notices of Violation (NOVs) issued</a:t>
                      </a:r>
                      <a:endParaRPr lang="en-US" sz="1800" dirty="0"/>
                    </a:p>
                  </a:txBody>
                  <a:tcPr/>
                </a:tc>
                <a:tc>
                  <a:txBody>
                    <a:bodyPr/>
                    <a:lstStyle/>
                    <a:p>
                      <a:pPr algn="r"/>
                      <a:r>
                        <a:rPr lang="en-US" sz="1800" b="0" dirty="0">
                          <a:solidFill>
                            <a:schemeClr val="tx1"/>
                          </a:solidFill>
                        </a:rPr>
                        <a:t>28,030</a:t>
                      </a:r>
                      <a:endParaRPr lang="en-US" sz="1800" b="0" dirty="0"/>
                    </a:p>
                  </a:txBody>
                  <a:tcPr/>
                </a:tc>
                <a:extLst>
                  <a:ext uri="{0D108BD9-81ED-4DB2-BD59-A6C34878D82A}">
                    <a16:rowId xmlns:a16="http://schemas.microsoft.com/office/drawing/2014/main" val="848427821"/>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u="none" dirty="0"/>
                        <a:t>Total NOVs Contested in c</a:t>
                      </a:r>
                      <a:r>
                        <a:rPr lang="en-US" sz="1800" dirty="0">
                          <a:solidFill>
                            <a:schemeClr val="tx1"/>
                          </a:solidFill>
                        </a:rPr>
                        <a:t>ity Magistrate </a:t>
                      </a:r>
                      <a:r>
                        <a:rPr lang="en-US" sz="1800" u="none" dirty="0"/>
                        <a:t>Court</a:t>
                      </a:r>
                    </a:p>
                  </a:txBody>
                  <a:tcPr/>
                </a:tc>
                <a:tc>
                  <a:txBody>
                    <a:bodyPr/>
                    <a:lstStyle/>
                    <a:p>
                      <a:pPr algn="r"/>
                      <a:r>
                        <a:rPr lang="en-US" sz="1800" b="0" u="none" dirty="0"/>
                        <a:t>85</a:t>
                      </a:r>
                    </a:p>
                  </a:txBody>
                  <a:tcPr/>
                </a:tc>
                <a:extLst>
                  <a:ext uri="{0D108BD9-81ED-4DB2-BD59-A6C34878D82A}">
                    <a16:rowId xmlns:a16="http://schemas.microsoft.com/office/drawing/2014/main" val="3048143878"/>
                  </a:ext>
                </a:extLst>
              </a:tr>
              <a:tr h="370840">
                <a:tc>
                  <a:txBody>
                    <a:bodyPr/>
                    <a:lstStyle/>
                    <a:p>
                      <a:pPr algn="r"/>
                      <a:r>
                        <a:rPr lang="en-US" sz="1800" dirty="0">
                          <a:solidFill>
                            <a:schemeClr val="tx1"/>
                          </a:solidFill>
                        </a:rPr>
                        <a:t>Upheld</a:t>
                      </a:r>
                      <a:endParaRPr lang="en-US" sz="1800" dirty="0"/>
                    </a:p>
                  </a:txBody>
                  <a:tcPr/>
                </a:tc>
                <a:tc>
                  <a:txBody>
                    <a:bodyPr/>
                    <a:lstStyle/>
                    <a:p>
                      <a:pPr algn="l"/>
                      <a:r>
                        <a:rPr lang="en-US" sz="1800" dirty="0">
                          <a:solidFill>
                            <a:schemeClr val="tx1"/>
                          </a:solidFill>
                        </a:rPr>
                        <a:t>82</a:t>
                      </a:r>
                      <a:endParaRPr lang="en-US" sz="1800" dirty="0"/>
                    </a:p>
                  </a:txBody>
                  <a:tcPr/>
                </a:tc>
                <a:extLst>
                  <a:ext uri="{0D108BD9-81ED-4DB2-BD59-A6C34878D82A}">
                    <a16:rowId xmlns:a16="http://schemas.microsoft.com/office/drawing/2014/main" val="1162096315"/>
                  </a:ext>
                </a:extLst>
              </a:tr>
              <a:tr h="370840">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Dismissed</a:t>
                      </a:r>
                      <a:endParaRPr lang="en-US" sz="1800" dirty="0"/>
                    </a:p>
                  </a:txBody>
                  <a:tcPr/>
                </a:tc>
                <a:tc>
                  <a:txBody>
                    <a:bodyPr/>
                    <a:lstStyle/>
                    <a:p>
                      <a:pPr algn="l"/>
                      <a:r>
                        <a:rPr lang="en-US" sz="1800" dirty="0"/>
                        <a:t>3</a:t>
                      </a:r>
                    </a:p>
                  </a:txBody>
                  <a:tcPr/>
                </a:tc>
                <a:extLst>
                  <a:ext uri="{0D108BD9-81ED-4DB2-BD59-A6C34878D82A}">
                    <a16:rowId xmlns:a16="http://schemas.microsoft.com/office/drawing/2014/main" val="3817740499"/>
                  </a:ext>
                </a:extLst>
              </a:tr>
              <a:tr h="370840">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Scheduled</a:t>
                      </a:r>
                      <a:endParaRPr lang="en-US" sz="1800" dirty="0"/>
                    </a:p>
                  </a:txBody>
                  <a:tcPr/>
                </a:tc>
                <a:tc>
                  <a:txBody>
                    <a:bodyPr/>
                    <a:lstStyle/>
                    <a:p>
                      <a:pPr algn="l"/>
                      <a:r>
                        <a:rPr lang="en-US" sz="1800" dirty="0"/>
                        <a:t>45</a:t>
                      </a:r>
                    </a:p>
                  </a:txBody>
                  <a:tcPr/>
                </a:tc>
                <a:extLst>
                  <a:ext uri="{0D108BD9-81ED-4DB2-BD59-A6C34878D82A}">
                    <a16:rowId xmlns:a16="http://schemas.microsoft.com/office/drawing/2014/main" val="347564725"/>
                  </a:ext>
                </a:extLst>
              </a:tr>
              <a:tr h="1742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NOV’s Paid</a:t>
                      </a:r>
                      <a:endParaRPr lang="en-US" sz="1800" dirty="0"/>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16,520</a:t>
                      </a:r>
                      <a:endParaRPr lang="en-US" sz="1800" dirty="0"/>
                    </a:p>
                  </a:txBody>
                  <a:tcPr/>
                </a:tc>
                <a:extLst>
                  <a:ext uri="{0D108BD9-81ED-4DB2-BD59-A6C34878D82A}">
                    <a16:rowId xmlns:a16="http://schemas.microsoft.com/office/drawing/2014/main" val="639270379"/>
                  </a:ext>
                </a:extLst>
              </a:tr>
              <a:tr h="1742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NOV’s issued as Uniform Traffic Citations (UTCs)</a:t>
                      </a:r>
                      <a:endParaRPr lang="en-US" sz="1800" dirty="0"/>
                    </a:p>
                  </a:txBody>
                  <a:tcPr/>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2,374</a:t>
                      </a:r>
                      <a:endParaRPr lang="en-US" sz="1800" dirty="0"/>
                    </a:p>
                  </a:txBody>
                  <a:tcPr/>
                </a:tc>
                <a:extLst>
                  <a:ext uri="{0D108BD9-81ED-4DB2-BD59-A6C34878D82A}">
                    <a16:rowId xmlns:a16="http://schemas.microsoft.com/office/drawing/2014/main" val="1763332433"/>
                  </a:ext>
                </a:extLst>
              </a:tr>
            </a:tbl>
          </a:graphicData>
        </a:graphic>
      </p:graphicFrame>
    </p:spTree>
    <p:extLst>
      <p:ext uri="{BB962C8B-B14F-4D97-AF65-F5344CB8AC3E}">
        <p14:creationId xmlns:p14="http://schemas.microsoft.com/office/powerpoint/2010/main" val="133461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E2181-5B4D-C090-CE17-3EBB719E1A3C}"/>
              </a:ext>
            </a:extLst>
          </p:cNvPr>
          <p:cNvSpPr>
            <a:spLocks noGrp="1"/>
          </p:cNvSpPr>
          <p:nvPr>
            <p:ph type="title"/>
          </p:nvPr>
        </p:nvSpPr>
        <p:spPr/>
        <p:txBody>
          <a:bodyPr/>
          <a:lstStyle/>
          <a:p>
            <a:r>
              <a:rPr lang="en-US" spc="-150" dirty="0">
                <a:solidFill>
                  <a:schemeClr val="tx1"/>
                </a:solidFill>
                <a:latin typeface="Arial" panose="020B0604020202020204" pitchFamily="34" charset="0"/>
                <a:cs typeface="Arial" panose="020B0604020202020204" pitchFamily="34" charset="0"/>
              </a:rPr>
              <a:t>Violation</a:t>
            </a:r>
            <a:r>
              <a:rPr lang="en-US" sz="3600" spc="-150" dirty="0">
                <a:solidFill>
                  <a:schemeClr val="tx1"/>
                </a:solidFill>
                <a:latin typeface="Arial" panose="020B0604020202020204" pitchFamily="34" charset="0"/>
                <a:cs typeface="Arial" panose="020B0604020202020204" pitchFamily="34" charset="0"/>
              </a:rPr>
              <a:t> Fee Breakdown</a:t>
            </a:r>
            <a:endParaRPr lang="en-US" dirty="0"/>
          </a:p>
        </p:txBody>
      </p:sp>
      <p:sp>
        <p:nvSpPr>
          <p:cNvPr id="4" name="Slide Number Placeholder 3">
            <a:extLst>
              <a:ext uri="{FF2B5EF4-FFF2-40B4-BE49-F238E27FC236}">
                <a16:creationId xmlns:a16="http://schemas.microsoft.com/office/drawing/2014/main" id="{B6448208-B25F-DFF6-5783-C0F0FBDBC46C}"/>
              </a:ext>
            </a:extLst>
          </p:cNvPr>
          <p:cNvSpPr>
            <a:spLocks noGrp="1"/>
          </p:cNvSpPr>
          <p:nvPr>
            <p:ph type="sldNum" sz="quarter" idx="11"/>
          </p:nvPr>
        </p:nvSpPr>
        <p:spPr/>
        <p:txBody>
          <a:bodyPr/>
          <a:lstStyle/>
          <a:p>
            <a:fld id="{BC5586A0-C3E6-4B60-9429-234BB5256C0F}" type="slidenum">
              <a:rPr lang="en-US" smtClean="0"/>
              <a:pPr/>
              <a:t>6</a:t>
            </a:fld>
            <a:endParaRPr lang="en-US" dirty="0"/>
          </a:p>
        </p:txBody>
      </p:sp>
      <p:sp>
        <p:nvSpPr>
          <p:cNvPr id="5" name="Content Placeholder 2">
            <a:extLst>
              <a:ext uri="{FF2B5EF4-FFF2-40B4-BE49-F238E27FC236}">
                <a16:creationId xmlns:a16="http://schemas.microsoft.com/office/drawing/2014/main" id="{7D4F5D4C-9AF7-3BB0-098C-E2EE2D5A24BE}"/>
              </a:ext>
            </a:extLst>
          </p:cNvPr>
          <p:cNvSpPr txBox="1">
            <a:spLocks noGrp="1"/>
          </p:cNvSpPr>
          <p:nvPr>
            <p:ph idx="1"/>
          </p:nvPr>
        </p:nvSpPr>
        <p:spPr>
          <a:xfrm>
            <a:off x="508000" y="1143000"/>
            <a:ext cx="10972800" cy="462496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600" dirty="0">
                <a:latin typeface="Arial" panose="020B0604020202020204" pitchFamily="34" charset="0"/>
                <a:cs typeface="Arial" panose="020B0604020202020204" pitchFamily="34" charset="0"/>
              </a:rPr>
              <a:t>Florida Statute defines maximum violation amount and required contributions</a:t>
            </a:r>
          </a:p>
          <a:p>
            <a:pPr lvl="1">
              <a:spcAft>
                <a:spcPts val="1000"/>
              </a:spcAft>
              <a:buFont typeface="Arial" panose="020B0604020202020204" pitchFamily="34" charset="0"/>
              <a:buChar char="•"/>
            </a:pPr>
            <a:r>
              <a:rPr lang="en-US" sz="2600" dirty="0">
                <a:solidFill>
                  <a:schemeClr val="tx1"/>
                </a:solidFill>
                <a:latin typeface="Arial" panose="020B0604020202020204" pitchFamily="34" charset="0"/>
                <a:ea typeface="Calibri" panose="020F0502020204030204" pitchFamily="34" charset="0"/>
                <a:cs typeface="Arial" panose="020B0604020202020204" pitchFamily="34" charset="0"/>
              </a:rPr>
              <a:t>$100 citation </a:t>
            </a:r>
          </a:p>
          <a:p>
            <a:pPr lvl="2">
              <a:buFont typeface="Arial" panose="020B0604020202020204" pitchFamily="34" charset="0"/>
              <a:buChar char="•"/>
            </a:pPr>
            <a:r>
              <a:rPr lang="en-US" sz="2000" dirty="0">
                <a:solidFill>
                  <a:schemeClr val="tx1"/>
                </a:solidFill>
                <a:latin typeface="Arial" panose="020B0604020202020204" pitchFamily="34" charset="0"/>
                <a:ea typeface="Calibri" panose="020F0502020204030204" pitchFamily="34" charset="0"/>
                <a:cs typeface="Arial" panose="020B0604020202020204" pitchFamily="34" charset="0"/>
              </a:rPr>
              <a:t>$20 to the State of Florida </a:t>
            </a:r>
          </a:p>
          <a:p>
            <a:pPr lvl="2">
              <a:buFont typeface="Arial" panose="020B0604020202020204" pitchFamily="34" charset="0"/>
              <a:buChar char="•"/>
            </a:pPr>
            <a:r>
              <a:rPr lang="en-US" sz="2000" dirty="0">
                <a:solidFill>
                  <a:schemeClr val="tx1"/>
                </a:solidFill>
                <a:latin typeface="Arial" panose="020B0604020202020204" pitchFamily="34" charset="0"/>
                <a:ea typeface="Calibri" panose="020F0502020204030204" pitchFamily="34" charset="0"/>
                <a:cs typeface="Arial" panose="020B0604020202020204" pitchFamily="34" charset="0"/>
              </a:rPr>
              <a:t>$12 to School District</a:t>
            </a:r>
          </a:p>
          <a:p>
            <a:pPr lvl="2">
              <a:buFont typeface="Arial" panose="020B0604020202020204" pitchFamily="34" charset="0"/>
              <a:buChar char="•"/>
            </a:pPr>
            <a:r>
              <a:rPr lang="en-US" sz="2000" dirty="0">
                <a:solidFill>
                  <a:schemeClr val="tx1"/>
                </a:solidFill>
                <a:latin typeface="Arial" panose="020B0604020202020204" pitchFamily="34" charset="0"/>
                <a:ea typeface="Calibri" panose="020F0502020204030204" pitchFamily="34" charset="0"/>
                <a:cs typeface="Arial" panose="020B0604020202020204" pitchFamily="34" charset="0"/>
              </a:rPr>
              <a:t>$5 to School Crossing Guard Program</a:t>
            </a:r>
          </a:p>
          <a:p>
            <a:pPr lvl="2">
              <a:buFont typeface="Arial" panose="020B0604020202020204" pitchFamily="34" charset="0"/>
              <a:buChar char="•"/>
            </a:pPr>
            <a:r>
              <a:rPr lang="en-US" sz="2000" dirty="0">
                <a:solidFill>
                  <a:schemeClr val="tx1"/>
                </a:solidFill>
                <a:latin typeface="Arial" panose="020B0604020202020204" pitchFamily="34" charset="0"/>
                <a:ea typeface="Calibri" panose="020F0502020204030204" pitchFamily="34" charset="0"/>
                <a:cs typeface="Arial" panose="020B0604020202020204" pitchFamily="34" charset="0"/>
              </a:rPr>
              <a:t>$3 to the Florida Department of Law Enforcement </a:t>
            </a:r>
          </a:p>
          <a:p>
            <a:pPr lvl="2">
              <a:buFont typeface="Arial" panose="020B0604020202020204" pitchFamily="34" charset="0"/>
              <a:buChar char="•"/>
            </a:pPr>
            <a:r>
              <a:rPr lang="en-US" sz="2000" dirty="0">
                <a:solidFill>
                  <a:schemeClr val="tx1"/>
                </a:solidFill>
                <a:latin typeface="Arial" panose="020B0604020202020204" pitchFamily="34" charset="0"/>
                <a:ea typeface="Calibri" panose="020F0502020204030204" pitchFamily="34" charset="0"/>
                <a:cs typeface="Arial" panose="020B0604020202020204" pitchFamily="34" charset="0"/>
              </a:rPr>
              <a:t>$60 to the City (minus vendor costs)</a:t>
            </a:r>
          </a:p>
          <a:p>
            <a:endParaRPr lang="en-US" sz="2800" dirty="0">
              <a:latin typeface="Arial" panose="020B0604020202020204" pitchFamily="34" charset="0"/>
              <a:ea typeface="Calibri" panose="020F0502020204030204" pitchFamily="34" charset="0"/>
              <a:cs typeface="Arial" panose="020B0604020202020204" pitchFamily="34" charset="0"/>
            </a:endParaRPr>
          </a:p>
          <a:p>
            <a:endParaRPr lang="en-US" sz="2800" dirty="0"/>
          </a:p>
        </p:txBody>
      </p:sp>
      <p:graphicFrame>
        <p:nvGraphicFramePr>
          <p:cNvPr id="7" name="Chart 6">
            <a:extLst>
              <a:ext uri="{FF2B5EF4-FFF2-40B4-BE49-F238E27FC236}">
                <a16:creationId xmlns:a16="http://schemas.microsoft.com/office/drawing/2014/main" id="{1B75C245-6021-E8F0-855D-390F5CF992ED}"/>
              </a:ext>
            </a:extLst>
          </p:cNvPr>
          <p:cNvGraphicFramePr/>
          <p:nvPr/>
        </p:nvGraphicFramePr>
        <p:xfrm>
          <a:off x="6324600" y="1417638"/>
          <a:ext cx="5867400" cy="462496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56653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412C6-F242-936F-0614-2889AA43B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552E6-5E23-1C9F-885F-560E1B89E372}"/>
              </a:ext>
            </a:extLst>
          </p:cNvPr>
          <p:cNvSpPr>
            <a:spLocks noGrp="1"/>
          </p:cNvSpPr>
          <p:nvPr>
            <p:ph type="title"/>
          </p:nvPr>
        </p:nvSpPr>
        <p:spPr/>
        <p:txBody>
          <a:bodyPr/>
          <a:lstStyle/>
          <a:p>
            <a:r>
              <a:rPr lang="en-US" spc="-150" dirty="0"/>
              <a:t>Fiscal Impact</a:t>
            </a:r>
          </a:p>
        </p:txBody>
      </p:sp>
      <p:sp>
        <p:nvSpPr>
          <p:cNvPr id="4" name="Slide Number Placeholder 3">
            <a:extLst>
              <a:ext uri="{FF2B5EF4-FFF2-40B4-BE49-F238E27FC236}">
                <a16:creationId xmlns:a16="http://schemas.microsoft.com/office/drawing/2014/main" id="{DCEB1741-3CD1-4137-74A8-3811F2DBD105}"/>
              </a:ext>
            </a:extLst>
          </p:cNvPr>
          <p:cNvSpPr>
            <a:spLocks noGrp="1"/>
          </p:cNvSpPr>
          <p:nvPr>
            <p:ph type="sldNum" sz="quarter" idx="11"/>
          </p:nvPr>
        </p:nvSpPr>
        <p:spPr/>
        <p:txBody>
          <a:bodyPr/>
          <a:lstStyle/>
          <a:p>
            <a:fld id="{BC5586A0-C3E6-4B60-9429-234BB5256C0F}" type="slidenum">
              <a:rPr lang="en-US" smtClean="0"/>
              <a:pPr/>
              <a:t>7</a:t>
            </a:fld>
            <a:endParaRPr lang="en-US" dirty="0"/>
          </a:p>
        </p:txBody>
      </p:sp>
      <p:sp>
        <p:nvSpPr>
          <p:cNvPr id="6" name="Content Placeholder 5">
            <a:extLst>
              <a:ext uri="{FF2B5EF4-FFF2-40B4-BE49-F238E27FC236}">
                <a16:creationId xmlns:a16="http://schemas.microsoft.com/office/drawing/2014/main" id="{1CF80259-ECB9-B572-5229-BEC86DE484DF}"/>
              </a:ext>
            </a:extLst>
          </p:cNvPr>
          <p:cNvSpPr>
            <a:spLocks noGrp="1"/>
          </p:cNvSpPr>
          <p:nvPr>
            <p:ph idx="1"/>
          </p:nvPr>
        </p:nvSpPr>
        <p:spPr>
          <a:xfrm>
            <a:off x="508000" y="1078303"/>
            <a:ext cx="10972800" cy="552089"/>
          </a:xfrm>
        </p:spPr>
        <p:txBody>
          <a:bodyPr/>
          <a:lstStyle/>
          <a:p>
            <a:pPr marL="0" indent="0">
              <a:buNone/>
            </a:pPr>
            <a:r>
              <a:rPr lang="en-US" sz="2000" dirty="0">
                <a:solidFill>
                  <a:schemeClr val="tx1"/>
                </a:solidFill>
              </a:rPr>
              <a:t>For the Period 7/1/2024 – 6/30/2025</a:t>
            </a:r>
          </a:p>
          <a:p>
            <a:pPr marL="0" indent="0">
              <a:buNone/>
            </a:pPr>
            <a:endParaRPr lang="en-US" dirty="0">
              <a:solidFill>
                <a:schemeClr val="tx1"/>
              </a:solidFill>
            </a:endParaRPr>
          </a:p>
        </p:txBody>
      </p:sp>
      <p:graphicFrame>
        <p:nvGraphicFramePr>
          <p:cNvPr id="3" name="Table 2">
            <a:extLst>
              <a:ext uri="{FF2B5EF4-FFF2-40B4-BE49-F238E27FC236}">
                <a16:creationId xmlns:a16="http://schemas.microsoft.com/office/drawing/2014/main" id="{32FA7F30-28B8-01BE-3FD5-B474EF6B0733}"/>
              </a:ext>
            </a:extLst>
          </p:cNvPr>
          <p:cNvGraphicFramePr>
            <a:graphicFrameLocks noGrp="1"/>
          </p:cNvGraphicFramePr>
          <p:nvPr>
            <p:extLst>
              <p:ext uri="{D42A27DB-BD31-4B8C-83A1-F6EECF244321}">
                <p14:modId xmlns:p14="http://schemas.microsoft.com/office/powerpoint/2010/main" val="4094932407"/>
              </p:ext>
            </p:extLst>
          </p:nvPr>
        </p:nvGraphicFramePr>
        <p:xfrm>
          <a:off x="1216323" y="1607387"/>
          <a:ext cx="9066364" cy="3048000"/>
        </p:xfrm>
        <a:graphic>
          <a:graphicData uri="http://schemas.openxmlformats.org/drawingml/2006/table">
            <a:tbl>
              <a:tblPr firstRow="1" bandRow="1">
                <a:tableStyleId>{7DF18680-E054-41AD-8BC1-D1AEF772440D}</a:tableStyleId>
              </a:tblPr>
              <a:tblGrid>
                <a:gridCol w="4533182">
                  <a:extLst>
                    <a:ext uri="{9D8B030D-6E8A-4147-A177-3AD203B41FA5}">
                      <a16:colId xmlns:a16="http://schemas.microsoft.com/office/drawing/2014/main" val="2111808596"/>
                    </a:ext>
                  </a:extLst>
                </a:gridCol>
                <a:gridCol w="4533182">
                  <a:extLst>
                    <a:ext uri="{9D8B030D-6E8A-4147-A177-3AD203B41FA5}">
                      <a16:colId xmlns:a16="http://schemas.microsoft.com/office/drawing/2014/main" val="2594467477"/>
                    </a:ext>
                  </a:extLst>
                </a:gridCol>
              </a:tblGrid>
              <a:tr h="370840">
                <a:tc>
                  <a:txBody>
                    <a:bodyPr/>
                    <a:lstStyle/>
                    <a:p>
                      <a:pPr algn="l"/>
                      <a:r>
                        <a:rPr lang="en-US" sz="2400" dirty="0"/>
                        <a:t>Item</a:t>
                      </a:r>
                    </a:p>
                  </a:txBody>
                  <a:tcPr/>
                </a:tc>
                <a:tc>
                  <a:txBody>
                    <a:bodyPr/>
                    <a:lstStyle/>
                    <a:p>
                      <a:pPr algn="r"/>
                      <a:r>
                        <a:rPr lang="en-US" sz="2400" dirty="0"/>
                        <a:t>Amount</a:t>
                      </a:r>
                    </a:p>
                  </a:txBody>
                  <a:tcPr/>
                </a:tc>
                <a:extLst>
                  <a:ext uri="{0D108BD9-81ED-4DB2-BD59-A6C34878D82A}">
                    <a16:rowId xmlns:a16="http://schemas.microsoft.com/office/drawing/2014/main" val="2182406195"/>
                  </a:ext>
                </a:extLst>
              </a:tr>
              <a:tr h="370840">
                <a:tc>
                  <a:txBody>
                    <a:bodyPr/>
                    <a:lstStyle/>
                    <a:p>
                      <a:r>
                        <a:rPr lang="en-US" sz="1800" dirty="0"/>
                        <a:t>Violations Paid</a:t>
                      </a:r>
                    </a:p>
                  </a:txBody>
                  <a:tcPr/>
                </a:tc>
                <a:tc>
                  <a:txBody>
                    <a:bodyPr/>
                    <a:lstStyle/>
                    <a:p>
                      <a:pPr algn="r"/>
                      <a:r>
                        <a:rPr lang="en-US" sz="1800" dirty="0"/>
                        <a:t>16,520</a:t>
                      </a:r>
                    </a:p>
                  </a:txBody>
                  <a:tcPr/>
                </a:tc>
                <a:extLst>
                  <a:ext uri="{0D108BD9-81ED-4DB2-BD59-A6C34878D82A}">
                    <a16:rowId xmlns:a16="http://schemas.microsoft.com/office/drawing/2014/main" val="848427821"/>
                  </a:ext>
                </a:extLst>
              </a:tr>
              <a:tr h="370840">
                <a:tc>
                  <a:txBody>
                    <a:bodyPr/>
                    <a:lstStyle/>
                    <a:p>
                      <a:r>
                        <a:rPr lang="en-US" sz="1800" dirty="0"/>
                        <a:t>Collected Funds</a:t>
                      </a:r>
                    </a:p>
                  </a:txBody>
                  <a:tcPr/>
                </a:tc>
                <a:tc>
                  <a:txBody>
                    <a:bodyPr/>
                    <a:lstStyle/>
                    <a:p>
                      <a:pPr algn="r"/>
                      <a:r>
                        <a:rPr lang="en-US" sz="1800" dirty="0"/>
                        <a:t>$1,738,518.60</a:t>
                      </a:r>
                    </a:p>
                  </a:txBody>
                  <a:tcPr/>
                </a:tc>
                <a:extLst>
                  <a:ext uri="{0D108BD9-81ED-4DB2-BD59-A6C34878D82A}">
                    <a16:rowId xmlns:a16="http://schemas.microsoft.com/office/drawing/2014/main" val="3048143878"/>
                  </a:ext>
                </a:extLst>
              </a:tr>
              <a:tr h="370840">
                <a:tc>
                  <a:txBody>
                    <a:bodyPr/>
                    <a:lstStyle/>
                    <a:p>
                      <a:pPr algn="r"/>
                      <a:r>
                        <a:rPr lang="en-US" sz="1800" dirty="0"/>
                        <a:t>Disbursed Funds</a:t>
                      </a:r>
                    </a:p>
                  </a:txBody>
                  <a:tcPr/>
                </a:tc>
                <a:tc>
                  <a:txBody>
                    <a:bodyPr/>
                    <a:lstStyle/>
                    <a:p>
                      <a:endParaRPr lang="en-US" sz="1800" dirty="0"/>
                    </a:p>
                  </a:txBody>
                  <a:tcPr/>
                </a:tc>
                <a:extLst>
                  <a:ext uri="{0D108BD9-81ED-4DB2-BD59-A6C34878D82A}">
                    <a16:rowId xmlns:a16="http://schemas.microsoft.com/office/drawing/2014/main" val="1162096315"/>
                  </a:ext>
                </a:extLst>
              </a:tr>
              <a:tr h="370840">
                <a:tc>
                  <a:txBody>
                    <a:bodyPr/>
                    <a:lstStyle/>
                    <a:p>
                      <a:pPr algn="r"/>
                      <a:r>
                        <a:rPr lang="en-US" sz="1800" dirty="0"/>
                        <a:t>Dept of Revenue – General</a:t>
                      </a:r>
                    </a:p>
                  </a:txBody>
                  <a:tcPr/>
                </a:tc>
                <a:tc>
                  <a:txBody>
                    <a:bodyPr/>
                    <a:lstStyle/>
                    <a:p>
                      <a:pPr algn="r"/>
                      <a:r>
                        <a:rPr lang="en-US" sz="1800" dirty="0"/>
                        <a:t>$330,400.00</a:t>
                      </a:r>
                    </a:p>
                  </a:txBody>
                  <a:tcPr/>
                </a:tc>
                <a:extLst>
                  <a:ext uri="{0D108BD9-81ED-4DB2-BD59-A6C34878D82A}">
                    <a16:rowId xmlns:a16="http://schemas.microsoft.com/office/drawing/2014/main" val="347564725"/>
                  </a:ext>
                </a:extLst>
              </a:tr>
              <a:tr h="174254">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sz="1800" dirty="0"/>
                        <a:t>Dept of Revenue –FDLE</a:t>
                      </a:r>
                    </a:p>
                  </a:txBody>
                  <a:tcPr/>
                </a:tc>
                <a:tc>
                  <a:txBody>
                    <a:bodyPr/>
                    <a:lstStyle/>
                    <a:p>
                      <a:pPr algn="r"/>
                      <a:r>
                        <a:rPr lang="en-US" sz="1800" dirty="0"/>
                        <a:t>$49,560.00</a:t>
                      </a:r>
                    </a:p>
                  </a:txBody>
                  <a:tcPr/>
                </a:tc>
                <a:extLst>
                  <a:ext uri="{0D108BD9-81ED-4DB2-BD59-A6C34878D82A}">
                    <a16:rowId xmlns:a16="http://schemas.microsoft.com/office/drawing/2014/main" val="639270379"/>
                  </a:ext>
                </a:extLst>
              </a:tr>
              <a:tr h="370840">
                <a:tc>
                  <a:txBody>
                    <a:bodyPr/>
                    <a:lstStyle/>
                    <a:p>
                      <a:pPr algn="r"/>
                      <a:r>
                        <a:rPr lang="en-US" sz="1800" dirty="0"/>
                        <a:t>Broward County School Board</a:t>
                      </a:r>
                    </a:p>
                  </a:txBody>
                  <a:tcPr/>
                </a:tc>
                <a:tc>
                  <a:txBody>
                    <a:bodyPr/>
                    <a:lstStyle/>
                    <a:p>
                      <a:pPr algn="r"/>
                      <a:r>
                        <a:rPr lang="en-US" sz="1800" dirty="0"/>
                        <a:t>$198,240.00</a:t>
                      </a:r>
                    </a:p>
                  </a:txBody>
                  <a:tcPr/>
                </a:tc>
                <a:extLst>
                  <a:ext uri="{0D108BD9-81ED-4DB2-BD59-A6C34878D82A}">
                    <a16:rowId xmlns:a16="http://schemas.microsoft.com/office/drawing/2014/main" val="454286995"/>
                  </a:ext>
                </a:extLst>
              </a:tr>
              <a:tr h="370840">
                <a:tc>
                  <a:txBody>
                    <a:bodyPr/>
                    <a:lstStyle/>
                    <a:p>
                      <a:pPr algn="r"/>
                      <a:r>
                        <a:rPr lang="en-US" sz="1800" dirty="0"/>
                        <a:t>Vendor Services and Fees</a:t>
                      </a:r>
                    </a:p>
                  </a:txBody>
                  <a:tcPr/>
                </a:tc>
                <a:tc>
                  <a:txBody>
                    <a:bodyPr/>
                    <a:lstStyle/>
                    <a:p>
                      <a:pPr algn="r"/>
                      <a:r>
                        <a:rPr lang="en-US" sz="1800" dirty="0"/>
                        <a:t>$504,136.40</a:t>
                      </a:r>
                    </a:p>
                  </a:txBody>
                  <a:tcPr/>
                </a:tc>
                <a:extLst>
                  <a:ext uri="{0D108BD9-81ED-4DB2-BD59-A6C34878D82A}">
                    <a16:rowId xmlns:a16="http://schemas.microsoft.com/office/drawing/2014/main" val="1307414281"/>
                  </a:ext>
                </a:extLst>
              </a:tr>
            </a:tbl>
          </a:graphicData>
        </a:graphic>
      </p:graphicFrame>
      <p:sp>
        <p:nvSpPr>
          <p:cNvPr id="7" name="Content Placeholder 5">
            <a:extLst>
              <a:ext uri="{FF2B5EF4-FFF2-40B4-BE49-F238E27FC236}">
                <a16:creationId xmlns:a16="http://schemas.microsoft.com/office/drawing/2014/main" id="{6CCB6A7C-9D55-3ACF-E547-02F728F91345}"/>
              </a:ext>
            </a:extLst>
          </p:cNvPr>
          <p:cNvSpPr txBox="1">
            <a:spLocks/>
          </p:cNvSpPr>
          <p:nvPr/>
        </p:nvSpPr>
        <p:spPr>
          <a:xfrm>
            <a:off x="609600" y="4845136"/>
            <a:ext cx="10972800" cy="552089"/>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bg1"/>
                </a:solidFill>
                <a:latin typeface="Franklin Gothic Book" pitchFamily="34" charset="0"/>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bg1"/>
                </a:solidFill>
                <a:latin typeface="Franklin Gothic Book" pitchFamily="34" charset="0"/>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bg1"/>
                </a:solidFill>
                <a:latin typeface="Franklin Gothic Book" pitchFamily="34" charset="0"/>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bg1"/>
                </a:solidFill>
                <a:latin typeface="Franklin Gothic Book" pitchFamily="34" charset="0"/>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bg1"/>
                </a:solidFill>
                <a:latin typeface="Franklin Gothic Book"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Font typeface="Arial" pitchFamily="34" charset="0"/>
              <a:buNone/>
            </a:pPr>
            <a:r>
              <a:rPr lang="en-US" sz="2000" dirty="0">
                <a:solidFill>
                  <a:schemeClr val="tx1"/>
                </a:solidFill>
              </a:rPr>
              <a:t>The remaining funds collected through this program are being expended on the operational costs of running the program as well as investments in modernizing Police technology Citywide.</a:t>
            </a:r>
          </a:p>
          <a:p>
            <a:pPr marL="0" indent="0">
              <a:buFont typeface="Arial" pitchFamily="34" charset="0"/>
              <a:buNone/>
            </a:pPr>
            <a:endParaRPr lang="en-US" dirty="0">
              <a:solidFill>
                <a:schemeClr val="tx1"/>
              </a:solidFill>
            </a:endParaRPr>
          </a:p>
        </p:txBody>
      </p:sp>
    </p:spTree>
    <p:extLst>
      <p:ext uri="{BB962C8B-B14F-4D97-AF65-F5344CB8AC3E}">
        <p14:creationId xmlns:p14="http://schemas.microsoft.com/office/powerpoint/2010/main" val="624134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A0081-6B9E-1789-EE77-D097B1CC0E7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35AD57-9777-32D4-4856-B9A0C61AFF8C}"/>
              </a:ext>
            </a:extLst>
          </p:cNvPr>
          <p:cNvSpPr>
            <a:spLocks noGrp="1"/>
          </p:cNvSpPr>
          <p:nvPr>
            <p:ph type="sldNum" sz="quarter" idx="11"/>
          </p:nvPr>
        </p:nvSpPr>
        <p:spPr/>
        <p:txBody>
          <a:bodyPr/>
          <a:lstStyle/>
          <a:p>
            <a:fld id="{BC5586A0-C3E6-4B60-9429-234BB5256C0F}" type="slidenum">
              <a:rPr lang="en-US" smtClean="0"/>
              <a:pPr/>
              <a:t>8</a:t>
            </a:fld>
            <a:endParaRPr lang="en-US" dirty="0"/>
          </a:p>
        </p:txBody>
      </p:sp>
      <p:graphicFrame>
        <p:nvGraphicFramePr>
          <p:cNvPr id="3" name="Table 2">
            <a:extLst>
              <a:ext uri="{FF2B5EF4-FFF2-40B4-BE49-F238E27FC236}">
                <a16:creationId xmlns:a16="http://schemas.microsoft.com/office/drawing/2014/main" id="{C3D257EB-3B33-9D74-FBB4-9006D3681A90}"/>
              </a:ext>
            </a:extLst>
          </p:cNvPr>
          <p:cNvGraphicFramePr>
            <a:graphicFrameLocks noGrp="1"/>
          </p:cNvGraphicFramePr>
          <p:nvPr>
            <p:extLst>
              <p:ext uri="{D42A27DB-BD31-4B8C-83A1-F6EECF244321}">
                <p14:modId xmlns:p14="http://schemas.microsoft.com/office/powerpoint/2010/main" val="3821011168"/>
              </p:ext>
            </p:extLst>
          </p:nvPr>
        </p:nvGraphicFramePr>
        <p:xfrm>
          <a:off x="609598" y="1423074"/>
          <a:ext cx="11122154" cy="4319358"/>
        </p:xfrm>
        <a:graphic>
          <a:graphicData uri="http://schemas.openxmlformats.org/drawingml/2006/table">
            <a:tbl>
              <a:tblPr firstRow="1" bandRow="1">
                <a:tableStyleId>{7DF18680-E054-41AD-8BC1-D1AEF772440D}</a:tableStyleId>
              </a:tblPr>
              <a:tblGrid>
                <a:gridCol w="5561077">
                  <a:extLst>
                    <a:ext uri="{9D8B030D-6E8A-4147-A177-3AD203B41FA5}">
                      <a16:colId xmlns:a16="http://schemas.microsoft.com/office/drawing/2014/main" val="2111808596"/>
                    </a:ext>
                  </a:extLst>
                </a:gridCol>
                <a:gridCol w="5561077">
                  <a:extLst>
                    <a:ext uri="{9D8B030D-6E8A-4147-A177-3AD203B41FA5}">
                      <a16:colId xmlns:a16="http://schemas.microsoft.com/office/drawing/2014/main" val="3465892309"/>
                    </a:ext>
                  </a:extLst>
                </a:gridCol>
              </a:tblGrid>
              <a:tr h="907486">
                <a:tc gridSpan="2">
                  <a:txBody>
                    <a:bodyPr/>
                    <a:lstStyle/>
                    <a:p>
                      <a:pPr algn="ctr"/>
                      <a:r>
                        <a:rPr lang="en-US" sz="2800" dirty="0">
                          <a:latin typeface="Arial" panose="020B0604020202020204" pitchFamily="34" charset="0"/>
                          <a:cs typeface="Arial" panose="020B0604020202020204" pitchFamily="34" charset="0"/>
                        </a:rPr>
                        <a:t>Statistical analysis of the Speed Camera program shows an:</a:t>
                      </a:r>
                      <a:endParaRPr lang="en-US" sz="2800" dirty="0"/>
                    </a:p>
                  </a:txBody>
                  <a:tcPr/>
                </a:tc>
                <a:tc hMerge="1">
                  <a:txBody>
                    <a:bodyPr/>
                    <a:lstStyle/>
                    <a:p>
                      <a:pPr algn="ctr"/>
                      <a:endParaRPr lang="en-US" sz="2400" dirty="0"/>
                    </a:p>
                  </a:txBody>
                  <a:tcPr/>
                </a:tc>
                <a:extLst>
                  <a:ext uri="{0D108BD9-81ED-4DB2-BD59-A6C34878D82A}">
                    <a16:rowId xmlns:a16="http://schemas.microsoft.com/office/drawing/2014/main" val="2182406195"/>
                  </a:ext>
                </a:extLst>
              </a:tr>
              <a:tr h="1793871">
                <a:tc>
                  <a:txBody>
                    <a:bodyPr/>
                    <a:lstStyle/>
                    <a:p>
                      <a:pPr algn="ctr"/>
                      <a:r>
                        <a:rPr lang="en-US" sz="9600" dirty="0">
                          <a:latin typeface="Arial" panose="020B0604020202020204" pitchFamily="34" charset="0"/>
                          <a:cs typeface="Arial" panose="020B0604020202020204" pitchFamily="34" charset="0"/>
                        </a:rPr>
                        <a:t>89%</a:t>
                      </a:r>
                      <a:endParaRPr lang="en-US" sz="1800" dirty="0"/>
                    </a:p>
                  </a:txBody>
                  <a:tcPr/>
                </a:tc>
                <a:tc>
                  <a:txBody>
                    <a:bodyPr/>
                    <a:lstStyle/>
                    <a:p>
                      <a:pPr algn="ctr"/>
                      <a:r>
                        <a:rPr lang="en-US" sz="9600" dirty="0">
                          <a:latin typeface="Arial" panose="020B0604020202020204" pitchFamily="34" charset="0"/>
                          <a:cs typeface="Arial" panose="020B0604020202020204" pitchFamily="34" charset="0"/>
                        </a:rPr>
                        <a:t>36%</a:t>
                      </a:r>
                      <a:endParaRPr lang="en-US" sz="1800" dirty="0"/>
                    </a:p>
                  </a:txBody>
                  <a:tcPr/>
                </a:tc>
                <a:extLst>
                  <a:ext uri="{0D108BD9-81ED-4DB2-BD59-A6C34878D82A}">
                    <a16:rowId xmlns:a16="http://schemas.microsoft.com/office/drawing/2014/main" val="848427821"/>
                  </a:ext>
                </a:extLst>
              </a:tr>
              <a:tr h="879348">
                <a:tc>
                  <a:txBody>
                    <a:bodyPr/>
                    <a:lstStyle/>
                    <a:p>
                      <a:pPr algn="ctr"/>
                      <a:r>
                        <a:rPr lang="en-US" sz="4400" dirty="0">
                          <a:latin typeface="Arial" panose="020B0604020202020204" pitchFamily="34" charset="0"/>
                          <a:cs typeface="Arial" panose="020B0604020202020204" pitchFamily="34" charset="0"/>
                        </a:rPr>
                        <a:t>REDUCTION</a:t>
                      </a:r>
                      <a:endParaRPr lang="en-US" sz="4400" dirty="0"/>
                    </a:p>
                  </a:txBody>
                  <a:tcPr/>
                </a:tc>
                <a:tc>
                  <a:txBody>
                    <a:bodyPr/>
                    <a:lstStyle/>
                    <a:p>
                      <a:pPr algn="ctr"/>
                      <a:r>
                        <a:rPr lang="en-US" sz="4400" dirty="0">
                          <a:latin typeface="Arial" panose="020B0604020202020204" pitchFamily="34" charset="0"/>
                          <a:cs typeface="Arial" panose="020B0604020202020204" pitchFamily="34" charset="0"/>
                        </a:rPr>
                        <a:t>REDUCTION</a:t>
                      </a:r>
                      <a:endParaRPr lang="en-US" sz="4400" dirty="0"/>
                    </a:p>
                  </a:txBody>
                  <a:tcPr/>
                </a:tc>
                <a:extLst>
                  <a:ext uri="{0D108BD9-81ED-4DB2-BD59-A6C34878D82A}">
                    <a16:rowId xmlns:a16="http://schemas.microsoft.com/office/drawing/2014/main" val="3048143878"/>
                  </a:ext>
                </a:extLst>
              </a:tr>
              <a:tr h="738653">
                <a:tc>
                  <a:txBody>
                    <a:bodyPr/>
                    <a:lstStyle/>
                    <a:p>
                      <a:pPr algn="ctr" defTabSz="685800"/>
                      <a:r>
                        <a:rPr lang="en-US" sz="1800" dirty="0">
                          <a:latin typeface="Arial" panose="020B0604020202020204" pitchFamily="34" charset="0"/>
                          <a:cs typeface="Arial" panose="020B0604020202020204" pitchFamily="34" charset="0"/>
                        </a:rPr>
                        <a:t>in vehicles speeding 10+ mph over</a:t>
                      </a:r>
                    </a:p>
                    <a:p>
                      <a:pPr algn="ctr" defTabSz="685800"/>
                      <a:r>
                        <a:rPr lang="en-US" sz="1800" dirty="0">
                          <a:latin typeface="Arial" panose="020B0604020202020204" pitchFamily="34" charset="0"/>
                          <a:cs typeface="Arial" panose="020B0604020202020204" pitchFamily="34" charset="0"/>
                        </a:rPr>
                        <a:t>the speed limit through our school zones.</a:t>
                      </a:r>
                      <a:endParaRPr lang="en-US" sz="1800" dirty="0"/>
                    </a:p>
                  </a:txBody>
                  <a:tcPr/>
                </a:tc>
                <a:tc>
                  <a:txBody>
                    <a:bodyPr/>
                    <a:lstStyle/>
                    <a:p>
                      <a:pPr algn="ctr" defTabSz="685800"/>
                      <a:r>
                        <a:rPr lang="en-US" sz="1800" dirty="0">
                          <a:latin typeface="Arial" panose="020B0604020202020204" pitchFamily="34" charset="0"/>
                          <a:cs typeface="Arial" panose="020B0604020202020204" pitchFamily="34" charset="0"/>
                        </a:rPr>
                        <a:t>in traffic accidents in school zones with speed cameras up and running in 2025</a:t>
                      </a:r>
                      <a:endParaRPr lang="en-US" sz="1800" dirty="0"/>
                    </a:p>
                  </a:txBody>
                  <a:tcPr/>
                </a:tc>
                <a:extLst>
                  <a:ext uri="{0D108BD9-81ED-4DB2-BD59-A6C34878D82A}">
                    <a16:rowId xmlns:a16="http://schemas.microsoft.com/office/drawing/2014/main" val="1162096315"/>
                  </a:ext>
                </a:extLst>
              </a:tr>
            </a:tbl>
          </a:graphicData>
        </a:graphic>
      </p:graphicFrame>
      <p:sp>
        <p:nvSpPr>
          <p:cNvPr id="9" name="Title 8">
            <a:extLst>
              <a:ext uri="{FF2B5EF4-FFF2-40B4-BE49-F238E27FC236}">
                <a16:creationId xmlns:a16="http://schemas.microsoft.com/office/drawing/2014/main" id="{76878A63-AD7E-464C-2D19-5B1E1BFF0EF1}"/>
              </a:ext>
            </a:extLst>
          </p:cNvPr>
          <p:cNvSpPr>
            <a:spLocks noGrp="1"/>
          </p:cNvSpPr>
          <p:nvPr>
            <p:ph type="title"/>
          </p:nvPr>
        </p:nvSpPr>
        <p:spPr/>
        <p:txBody>
          <a:bodyPr/>
          <a:lstStyle/>
          <a:p>
            <a:r>
              <a:rPr lang="en-US" dirty="0"/>
              <a:t>Remarkable Results in Hollywood</a:t>
            </a:r>
          </a:p>
        </p:txBody>
      </p:sp>
    </p:spTree>
    <p:extLst>
      <p:ext uri="{BB962C8B-B14F-4D97-AF65-F5344CB8AC3E}">
        <p14:creationId xmlns:p14="http://schemas.microsoft.com/office/powerpoint/2010/main" val="984202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lum/>
          </a:blip>
          <a:srcRect/>
          <a:stretch>
            <a:fillRect/>
          </a:stretch>
        </a:blipFill>
        <a:effectLst/>
      </p:bgPr>
    </p:bg>
    <p:spTree>
      <p:nvGrpSpPr>
        <p:cNvPr id="1" name="">
          <a:extLst>
            <a:ext uri="{FF2B5EF4-FFF2-40B4-BE49-F238E27FC236}">
              <a16:creationId xmlns:a16="http://schemas.microsoft.com/office/drawing/2014/main" id="{5177D128-260F-A389-76FA-F524C957F272}"/>
            </a:ext>
          </a:extLst>
        </p:cNvPr>
        <p:cNvGrpSpPr/>
        <p:nvPr/>
      </p:nvGrpSpPr>
      <p:grpSpPr>
        <a:xfrm>
          <a:off x="0" y="0"/>
          <a:ext cx="0" cy="0"/>
          <a:chOff x="0" y="0"/>
          <a:chExt cx="0" cy="0"/>
        </a:xfrm>
      </p:grpSpPr>
      <p:pic>
        <p:nvPicPr>
          <p:cNvPr id="9" name="Picture 8" descr="SCHOOL'S BACK IN SESSION IN PINELLAS COUNTY: | Russo Pelletier &amp; Sullivan">
            <a:extLst>
              <a:ext uri="{FF2B5EF4-FFF2-40B4-BE49-F238E27FC236}">
                <a16:creationId xmlns:a16="http://schemas.microsoft.com/office/drawing/2014/main" id="{822028FC-71AB-F669-02EC-C23CE3DDF53D}"/>
              </a:ext>
            </a:extLst>
          </p:cNvPr>
          <p:cNvPicPr>
            <a:picLocks noChangeAspect="1" noChangeArrowheads="1"/>
          </p:cNvPicPr>
          <p:nvPr/>
        </p:nvPicPr>
        <p:blipFill rotWithShape="1">
          <a:blip r:embed="rId4">
            <a:alphaModFix amt="40000"/>
            <a:extLst>
              <a:ext uri="{28A0092B-C50C-407E-A947-70E740481C1C}">
                <a14:useLocalDpi xmlns:a14="http://schemas.microsoft.com/office/drawing/2010/main" val="0"/>
              </a:ext>
            </a:extLst>
          </a:blip>
          <a:srcRect t="1566" b="13848"/>
          <a:stretch/>
        </p:blipFill>
        <p:spPr bwMode="auto">
          <a:xfrm>
            <a:off x="0" y="-208711"/>
            <a:ext cx="12192000" cy="6221885"/>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7">
            <a:extLst>
              <a:ext uri="{FF2B5EF4-FFF2-40B4-BE49-F238E27FC236}">
                <a16:creationId xmlns:a16="http://schemas.microsoft.com/office/drawing/2014/main" id="{DA59203B-2287-0807-7F1F-6C5ABE718854}"/>
              </a:ext>
            </a:extLst>
          </p:cNvPr>
          <p:cNvSpPr>
            <a:spLocks noGrp="1"/>
          </p:cNvSpPr>
          <p:nvPr>
            <p:ph type="ctrTitle"/>
          </p:nvPr>
        </p:nvSpPr>
        <p:spPr>
          <a:xfrm>
            <a:off x="261668" y="697302"/>
            <a:ext cx="7188200" cy="4444041"/>
          </a:xfrm>
        </p:spPr>
        <p:txBody>
          <a:bodyPr>
            <a:normAutofit fontScale="90000"/>
          </a:bodyPr>
          <a:lstStyle/>
          <a:p>
            <a:pPr>
              <a:lnSpc>
                <a:spcPct val="90000"/>
              </a:lnSpc>
            </a:pPr>
            <a:r>
              <a:rPr lang="en-US" sz="5600" dirty="0">
                <a:solidFill>
                  <a:schemeClr val="tx1"/>
                </a:solidFill>
                <a:latin typeface="Arial" panose="020B0604020202020204" pitchFamily="34" charset="0"/>
                <a:cs typeface="Arial" panose="020B0604020202020204" pitchFamily="34" charset="0"/>
              </a:rPr>
              <a:t>City of Hollywood</a:t>
            </a:r>
            <a:br>
              <a:rPr lang="en-US" sz="5600" dirty="0">
                <a:solidFill>
                  <a:schemeClr val="tx1"/>
                </a:solidFill>
                <a:latin typeface="Arial" panose="020B0604020202020204" pitchFamily="34" charset="0"/>
                <a:cs typeface="Arial" panose="020B0604020202020204" pitchFamily="34" charset="0"/>
              </a:rPr>
            </a:br>
            <a:br>
              <a:rPr lang="en-US" sz="5600" dirty="0">
                <a:solidFill>
                  <a:schemeClr val="tx1"/>
                </a:solidFill>
                <a:latin typeface="Arial" panose="020B0604020202020204" pitchFamily="34" charset="0"/>
                <a:cs typeface="Arial" panose="020B0604020202020204" pitchFamily="34" charset="0"/>
              </a:rPr>
            </a:br>
            <a:r>
              <a:rPr lang="en-US" sz="5600" dirty="0">
                <a:solidFill>
                  <a:schemeClr val="tx1"/>
                </a:solidFill>
                <a:latin typeface="Arial" panose="020B0604020202020204" pitchFamily="34" charset="0"/>
                <a:cs typeface="Arial" panose="020B0604020202020204" pitchFamily="34" charset="0"/>
              </a:rPr>
              <a:t>Speed Zone Camera Enforcement Program </a:t>
            </a:r>
            <a:br>
              <a:rPr lang="en-US" sz="5600" dirty="0">
                <a:solidFill>
                  <a:schemeClr val="tx1"/>
                </a:solidFill>
                <a:latin typeface="Arial" panose="020B0604020202020204" pitchFamily="34" charset="0"/>
                <a:cs typeface="Arial" panose="020B0604020202020204" pitchFamily="34" charset="0"/>
              </a:rPr>
            </a:br>
            <a:br>
              <a:rPr lang="en-US" sz="5600" dirty="0">
                <a:solidFill>
                  <a:schemeClr val="tx1"/>
                </a:solidFill>
                <a:latin typeface="Arial" panose="020B0604020202020204" pitchFamily="34" charset="0"/>
                <a:cs typeface="Arial" panose="020B0604020202020204" pitchFamily="34" charset="0"/>
              </a:rPr>
            </a:br>
            <a:r>
              <a:rPr lang="en-US" sz="5600" dirty="0">
                <a:solidFill>
                  <a:schemeClr val="tx1"/>
                </a:solidFill>
                <a:latin typeface="Arial" panose="020B0604020202020204" pitchFamily="34" charset="0"/>
                <a:cs typeface="Arial" panose="020B0604020202020204" pitchFamily="34" charset="0"/>
              </a:rPr>
              <a:t>Annual Reporting</a:t>
            </a:r>
            <a:br>
              <a:rPr lang="en-US" sz="5600" dirty="0">
                <a:solidFill>
                  <a:schemeClr val="tx1"/>
                </a:solidFill>
                <a:latin typeface="Arial" panose="020B0604020202020204" pitchFamily="34" charset="0"/>
                <a:cs typeface="Arial" panose="020B0604020202020204" pitchFamily="34" charset="0"/>
              </a:rPr>
            </a:br>
            <a:r>
              <a:rPr lang="en-US" sz="4400" dirty="0">
                <a:solidFill>
                  <a:schemeClr val="tx1"/>
                </a:solidFill>
                <a:latin typeface="Arial" panose="020B0604020202020204" pitchFamily="34" charset="0"/>
                <a:cs typeface="Arial" panose="020B0604020202020204" pitchFamily="34" charset="0"/>
              </a:rPr>
              <a:t>October 22, 2025</a:t>
            </a:r>
            <a:endParaRPr lang="en-US" sz="5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1661430"/>
      </p:ext>
    </p:extLst>
  </p:cSld>
  <p:clrMapOvr>
    <a:masterClrMapping/>
  </p:clrMapOvr>
</p:sld>
</file>

<file path=ppt/theme/theme1.xml><?xml version="1.0" encoding="utf-8"?>
<a:theme xmlns:a="http://schemas.openxmlformats.org/drawingml/2006/main" name="1_Purple_Graphical 4x3 Tempate Segoe">
  <a:themeElements>
    <a:clrScheme name="Custom 18">
      <a:dk1>
        <a:sysClr val="windowText" lastClr="000000"/>
      </a:dk1>
      <a:lt1>
        <a:sysClr val="window" lastClr="FFFFFF"/>
      </a:lt1>
      <a:dk2>
        <a:srgbClr val="FFFFFF"/>
      </a:dk2>
      <a:lt2>
        <a:srgbClr val="FFFFFF"/>
      </a:lt2>
      <a:accent1>
        <a:srgbClr val="FFFFFF"/>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Gill Sans Light"/>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defTabSz="685800">
          <a:spcBef>
            <a:spcPct val="20000"/>
          </a:spcBef>
          <a:defRPr sz="2400" dirty="0">
            <a:solidFill>
              <a:schemeClr val="tx1">
                <a:lumMod val="75000"/>
                <a:lumOff val="25000"/>
              </a:schemeClr>
            </a:solidFill>
            <a:latin typeface="Franklin Gothic Book"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810B26EAD59CC41B92B438B915363D9" ma:contentTypeVersion="13" ma:contentTypeDescription="Create a new document." ma:contentTypeScope="" ma:versionID="a37136b26d32acd584bd3dc11ae5ab2d">
  <xsd:schema xmlns:xsd="http://www.w3.org/2001/XMLSchema" xmlns:xs="http://www.w3.org/2001/XMLSchema" xmlns:p="http://schemas.microsoft.com/office/2006/metadata/properties" xmlns:ns3="e8d38499-bacf-4231-94f2-be5619d15ece" targetNamespace="http://schemas.microsoft.com/office/2006/metadata/properties" ma:root="true" ma:fieldsID="062c750bbbda0dece356ab253f075b48" ns3:_="">
    <xsd:import namespace="e8d38499-bacf-4231-94f2-be5619d15ece"/>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3:MediaServiceOCR"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d38499-bacf-4231-94f2-be5619d15e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description="" ma:hidden="true" ma:indexed="true" ma:internalName="MediaServiceObjectDetectorVersions"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8d38499-bacf-4231-94f2-be5619d15ece" xsi:nil="true"/>
  </documentManagement>
</p:properties>
</file>

<file path=customXml/itemProps1.xml><?xml version="1.0" encoding="utf-8"?>
<ds:datastoreItem xmlns:ds="http://schemas.openxmlformats.org/officeDocument/2006/customXml" ds:itemID="{1E896763-E676-477D-BC3A-478FE31DA9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d38499-bacf-4231-94f2-be5619d15e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E2C52FD-343A-4809-BCCB-40E175A4B031}">
  <ds:schemaRefs>
    <ds:schemaRef ds:uri="http://schemas.microsoft.com/sharepoint/v3/contenttype/forms"/>
  </ds:schemaRefs>
</ds:datastoreItem>
</file>

<file path=customXml/itemProps3.xml><?xml version="1.0" encoding="utf-8"?>
<ds:datastoreItem xmlns:ds="http://schemas.openxmlformats.org/officeDocument/2006/customXml" ds:itemID="{104D59B1-1BA2-4403-8365-644261E60204}">
  <ds:schemaRefs>
    <ds:schemaRef ds:uri="http://schemas.microsoft.com/office/infopath/2007/PartnerControls"/>
    <ds:schemaRef ds:uri="http://purl.org/dc/elements/1.1/"/>
    <ds:schemaRef ds:uri="http://purl.org/dc/dcmitype/"/>
    <ds:schemaRef ds:uri="e8d38499-bacf-4231-94f2-be5619d15ece"/>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1566</TotalTime>
  <Words>1203</Words>
  <Application>Microsoft Office PowerPoint</Application>
  <PresentationFormat>Widescreen</PresentationFormat>
  <Paragraphs>462</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Aptos Narrow</vt:lpstr>
      <vt:lpstr>Arial</vt:lpstr>
      <vt:lpstr>Calibri</vt:lpstr>
      <vt:lpstr>Century Gothic</vt:lpstr>
      <vt:lpstr>Franklin Gothic Book</vt:lpstr>
      <vt:lpstr>Verdana</vt:lpstr>
      <vt:lpstr>1_Purple_Graphical 4x3 Tempate Segoe</vt:lpstr>
      <vt:lpstr>City of Hollywood  Speed Zone Camera Enforcement Program   Annual Reporting October 22, 2025</vt:lpstr>
      <vt:lpstr>Speed Cameras in Hollywood </vt:lpstr>
      <vt:lpstr>Speed Cameras in Hollywood </vt:lpstr>
      <vt:lpstr>Speed Cameras in Hollywood </vt:lpstr>
      <vt:lpstr>Annual Statistics</vt:lpstr>
      <vt:lpstr>Violation Fee Breakdown</vt:lpstr>
      <vt:lpstr>Fiscal Impact</vt:lpstr>
      <vt:lpstr>Remarkable Results in Hollywood</vt:lpstr>
      <vt:lpstr>City of Hollywood  Speed Zone Camera Enforcement Program   Annual Reporting October 22, 2025</vt:lpstr>
    </vt:vector>
  </TitlesOfParts>
  <Company>City of Hollywood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Cherie Cohn</dc:creator>
  <cp:lastModifiedBy>Patricia Cerny</cp:lastModifiedBy>
  <cp:revision>26</cp:revision>
  <dcterms:created xsi:type="dcterms:W3CDTF">2024-02-29T18:11:17Z</dcterms:created>
  <dcterms:modified xsi:type="dcterms:W3CDTF">2025-10-07T15:49:51Z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0x010100E810B26EAD59CC41B92B438B915363D9</vt:lpwstr>
  </property>
</Properties>
</file>